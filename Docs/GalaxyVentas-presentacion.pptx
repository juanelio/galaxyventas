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86CF76E5-A466-468B-5EA3-C51A3C3E6C97}">
          <p14:sldIdLst>
            <p14:sldId id="256"/>
          </p14:sldIdLst>
        </p14:section>
        <p14:section name="Solución" id="{A459157A-68E1-A2DB-E4EE-E23A01904219}">
          <p14:sldIdLst>
            <p14:sldId id="258"/>
            <p14:sldId id="259"/>
          </p14:sldIdLst>
        </p14:section>
        <p14:section name="Cómo está construido" id="{77DF8BDD-C2A0-BCB8-D4D2-27DBAD3C33C4}">
          <p14:sldIdLst>
            <p14:sldId id="260"/>
            <p14:sldId id="261"/>
            <p14:sldId id="262"/>
            <p14:sldId id="263"/>
          </p14:sldIdLst>
        </p14:section>
        <p14:section name="Calidad y entrega" id="{D633521E-BB44-4EB1-5D4B-8D0F59CF05E8}">
          <p14:sldIdLst>
            <p14:sldId id="264"/>
            <p14:sldId id="265"/>
            <p14:sldId id="266"/>
          </p14:sldIdLst>
        </p14:section>
        <p14:section name="Cierre" id="{566F165A-DFF1-0FEA-3DDC-2BF6DF47220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312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GalaxyVentas es la aplicación web con la que el operador del punto de venta registra la venta, emite la boleta o factura y cobra, sobre la base de datos que ya usa el sistema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reproduce el trabajo diario del operador. Todo ocurre en una sola pantalla y el registro final es atómico.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módulos cubren el alcance: venta, clientes, comprobantes, pagos, consultas con reporte y la gestión de la propia contraseña.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dependencias apuntan hacia el dominio. Así el esquema heredado queda encerrado en Infrastructure y las reglas de negocio se prueban sin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decisión técnica central: los procedimientos actuales no abren transacción; el sistema nuevo sí, y además controla la concurrencia de stock y de correlativos entre cajas.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cálculos son métodos de las entidades y la pantalla los pide al servidor. Así una sola implementación sirve para la cotización y para el registro.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seguridad está en la configuración base: ninguna pantalla puede olvidarla. El único riesgo aceptado es heredado y está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cubren el dominio sin mocks, los servicios con Moq, la web completa y la base de datos real. Las de base de datos deshacen sus cambios.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stack estándar de Microsoft, sin dependencias exóticas, que el equipo puede mantener.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documentación está pensada para cada público: requerimientos y casos de uso para validar, manual para el operador, arquitectura y README para el equipo técnico, y el plan de pruebas para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cumple el alcance. Quedan una prueba manual, una mejora fiscal recomendada, tres decisiones de negocio y la preparación del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dirty="0">
                <a:solidFill>
                  <a:srgbClr val="CADCFC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GalaxyVentas · Sistema de ventas para punto de venta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GalaxyVentas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</a:rPr>
              <a:t>Sistema de ventas para punto de venta</a:t>
            </a:r>
            <a:endParaRPr lang="en-US" sz="2600" dirty="0"/>
          </a:p>
        </p:txBody>
      </p:sp>
      <p:sp>
        <p:nvSpPr>
          <p:cNvPr id="4" name="Datos de la portada"/>
          <p:cNvSpPr txBox="1"/>
          <p:nvPr/>
        </p:nvSpPr>
        <p:spPr>
          <a:xfrm>
            <a:off x="731520" y="4343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ASP.NET Core MVC · .NET 10 · Clean Architecture  |  Octubre 2026</a:t>
            </a:r>
            <a:endParaRPr lang="en-US" sz="1600" dirty="0"/>
          </a:p>
        </p:txBody>
      </p:sp>
      <p:sp>
        <p:nvSpPr>
          <p:cNvPr id="5" name="Logo círculo"/>
          <p:cNvSpPr/>
          <p:nvPr/>
        </p:nvSpPr>
        <p:spPr>
          <a:xfrm>
            <a:off x="8778240" y="178308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Logo ícono" descr="Carrito de compr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46888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so 1 círculo"/>
          <p:cNvSpPr/>
          <p:nvPr/>
        </p:nvSpPr>
        <p:spPr>
          <a:xfrm>
            <a:off x="1106424" y="160020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Paso 1 ícono" descr="Pas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717" y="1885493"/>
            <a:ext cx="526694" cy="526694"/>
          </a:xfrm>
          <a:prstGeom prst="rect">
            <a:avLst/>
          </a:prstGeom>
        </p:spPr>
      </p:pic>
      <p:sp>
        <p:nvSpPr>
          <p:cNvPr id="5" name="Paso 1 título"/>
          <p:cNvSpPr txBox="1"/>
          <p:nvPr/>
        </p:nvSpPr>
        <p:spPr>
          <a:xfrm>
            <a:off x="640080" y="28803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1. Iniciar sesión</a:t>
            </a:r>
            <a:endParaRPr lang="en-US" sz="1800" dirty="0"/>
          </a:p>
        </p:txBody>
      </p:sp>
      <p:sp>
        <p:nvSpPr>
          <p:cNvPr id="6" name="Paso 1 texto"/>
          <p:cNvSpPr txBox="1"/>
          <p:nvPr/>
        </p:nvSpPr>
        <p:spPr>
          <a:xfrm>
            <a:off x="685800" y="3337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El punto de venta sale de la sesión</a:t>
            </a:r>
            <a:endParaRPr lang="en-US" sz="1400" dirty="0"/>
          </a:p>
        </p:txBody>
      </p:sp>
      <p:sp>
        <p:nvSpPr>
          <p:cNvPr id="7" name="Flecha 1"/>
          <p:cNvSpPr/>
          <p:nvPr/>
        </p:nvSpPr>
        <p:spPr>
          <a:xfrm>
            <a:off x="2606040" y="1984248"/>
            <a:ext cx="310896" cy="329184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8" name="Paso 2 círculo"/>
          <p:cNvSpPr/>
          <p:nvPr/>
        </p:nvSpPr>
        <p:spPr>
          <a:xfrm>
            <a:off x="3319272" y="160020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Paso 2 ícono" descr="Paso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565" y="1885493"/>
            <a:ext cx="526694" cy="526694"/>
          </a:xfrm>
          <a:prstGeom prst="rect">
            <a:avLst/>
          </a:prstGeom>
        </p:spPr>
      </p:pic>
      <p:sp>
        <p:nvSpPr>
          <p:cNvPr id="10" name="Paso 2 título"/>
          <p:cNvSpPr txBox="1"/>
          <p:nvPr/>
        </p:nvSpPr>
        <p:spPr>
          <a:xfrm>
            <a:off x="2852928" y="28803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2. Cliente</a:t>
            </a:r>
            <a:endParaRPr lang="en-US" sz="1800" dirty="0"/>
          </a:p>
        </p:txBody>
      </p:sp>
      <p:sp>
        <p:nvSpPr>
          <p:cNvPr id="11" name="Paso 2 texto"/>
          <p:cNvSpPr txBox="1"/>
          <p:nvPr/>
        </p:nvSpPr>
        <p:spPr>
          <a:xfrm>
            <a:off x="2898648" y="3337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Buscar por DNI, RUC o nombre, o registrarlo</a:t>
            </a:r>
            <a:endParaRPr lang="en-US" sz="1400" dirty="0"/>
          </a:p>
        </p:txBody>
      </p:sp>
      <p:sp>
        <p:nvSpPr>
          <p:cNvPr id="12" name="Flecha 2"/>
          <p:cNvSpPr/>
          <p:nvPr/>
        </p:nvSpPr>
        <p:spPr>
          <a:xfrm>
            <a:off x="4818888" y="1984248"/>
            <a:ext cx="310896" cy="329184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3" name="Paso 3 círculo"/>
          <p:cNvSpPr/>
          <p:nvPr/>
        </p:nvSpPr>
        <p:spPr>
          <a:xfrm>
            <a:off x="5532120" y="160020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Paso 3 ícono" descr="Paso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413" y="1885493"/>
            <a:ext cx="526694" cy="526694"/>
          </a:xfrm>
          <a:prstGeom prst="rect">
            <a:avLst/>
          </a:prstGeom>
        </p:spPr>
      </p:pic>
      <p:sp>
        <p:nvSpPr>
          <p:cNvPr id="15" name="Paso 3 título"/>
          <p:cNvSpPr txBox="1"/>
          <p:nvPr/>
        </p:nvSpPr>
        <p:spPr>
          <a:xfrm>
            <a:off x="5065776" y="28803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3. Artículos</a:t>
            </a:r>
            <a:endParaRPr lang="en-US" sz="1800" dirty="0"/>
          </a:p>
        </p:txBody>
      </p:sp>
      <p:sp>
        <p:nvSpPr>
          <p:cNvPr id="16" name="Paso 3 texto"/>
          <p:cNvSpPr txBox="1"/>
          <p:nvPr/>
        </p:nvSpPr>
        <p:spPr>
          <a:xfrm>
            <a:off x="5111496" y="3337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Por categoría, con precio, IGV y stock</a:t>
            </a:r>
            <a:endParaRPr lang="en-US" sz="1400" dirty="0"/>
          </a:p>
        </p:txBody>
      </p:sp>
      <p:sp>
        <p:nvSpPr>
          <p:cNvPr id="17" name="Flecha 3"/>
          <p:cNvSpPr/>
          <p:nvPr/>
        </p:nvSpPr>
        <p:spPr>
          <a:xfrm>
            <a:off x="7031736" y="1984248"/>
            <a:ext cx="310896" cy="329184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8" name="Paso 4 círculo"/>
          <p:cNvSpPr/>
          <p:nvPr/>
        </p:nvSpPr>
        <p:spPr>
          <a:xfrm>
            <a:off x="7744968" y="160020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Paso 4 ícono" descr="Paso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0261" y="1885493"/>
            <a:ext cx="526694" cy="526694"/>
          </a:xfrm>
          <a:prstGeom prst="rect">
            <a:avLst/>
          </a:prstGeom>
        </p:spPr>
      </p:pic>
      <p:sp>
        <p:nvSpPr>
          <p:cNvPr id="20" name="Paso 4 título"/>
          <p:cNvSpPr txBox="1"/>
          <p:nvPr/>
        </p:nvSpPr>
        <p:spPr>
          <a:xfrm>
            <a:off x="7278624" y="28803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4. Comprobante</a:t>
            </a:r>
            <a:endParaRPr lang="en-US" sz="1800" dirty="0"/>
          </a:p>
        </p:txBody>
      </p:sp>
      <p:sp>
        <p:nvSpPr>
          <p:cNvPr id="21" name="Paso 4 texto"/>
          <p:cNvSpPr txBox="1"/>
          <p:nvPr/>
        </p:nvSpPr>
        <p:spPr>
          <a:xfrm>
            <a:off x="7324344" y="3337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Boleta o factura con correlativo</a:t>
            </a:r>
            <a:endParaRPr lang="en-US" sz="1400" dirty="0"/>
          </a:p>
        </p:txBody>
      </p:sp>
      <p:sp>
        <p:nvSpPr>
          <p:cNvPr id="22" name="Flecha 4"/>
          <p:cNvSpPr/>
          <p:nvPr/>
        </p:nvSpPr>
        <p:spPr>
          <a:xfrm>
            <a:off x="9244584" y="1984248"/>
            <a:ext cx="310896" cy="329184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3" name="Paso 5 círculo"/>
          <p:cNvSpPr/>
          <p:nvPr/>
        </p:nvSpPr>
        <p:spPr>
          <a:xfrm>
            <a:off x="9957816" y="160020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Paso 5 ícono" descr="Paso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3109" y="1885493"/>
            <a:ext cx="526694" cy="526694"/>
          </a:xfrm>
          <a:prstGeom prst="rect">
            <a:avLst/>
          </a:prstGeom>
        </p:spPr>
      </p:pic>
      <p:sp>
        <p:nvSpPr>
          <p:cNvPr id="25" name="Paso 5 título"/>
          <p:cNvSpPr txBox="1"/>
          <p:nvPr/>
        </p:nvSpPr>
        <p:spPr>
          <a:xfrm>
            <a:off x="9491472" y="28803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5. Pago</a:t>
            </a:r>
            <a:endParaRPr lang="en-US" sz="1800" dirty="0"/>
          </a:p>
        </p:txBody>
      </p:sp>
      <p:sp>
        <p:nvSpPr>
          <p:cNvPr id="26" name="Paso 5 texto"/>
          <p:cNvSpPr txBox="1"/>
          <p:nvPr/>
        </p:nvSpPr>
        <p:spPr>
          <a:xfrm>
            <a:off x="9537192" y="3337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Un medio de pago por el total</a:t>
            </a:r>
            <a:endParaRPr lang="en-US" sz="1400" dirty="0"/>
          </a:p>
        </p:txBody>
      </p:sp>
      <p:sp>
        <p:nvSpPr>
          <p:cNvPr id="27" name="Resultado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8" name="Resultado círculo"/>
          <p:cNvSpPr/>
          <p:nvPr/>
        </p:nvSpPr>
        <p:spPr>
          <a:xfrm>
            <a:off x="868680" y="4873752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Resultado ícono" descr="Resultad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650" y="5087722"/>
            <a:ext cx="395021" cy="395021"/>
          </a:xfrm>
          <a:prstGeom prst="rect">
            <a:avLst/>
          </a:prstGeom>
        </p:spPr>
      </p:pic>
      <p:sp>
        <p:nvSpPr>
          <p:cNvPr id="30" name="Resultado texto"/>
          <p:cNvSpPr txBox="1"/>
          <p:nvPr/>
        </p:nvSpPr>
        <p:spPr>
          <a:xfrm>
            <a:off x="1965960" y="480060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 confirmar: </a:t>
            </a:r>
            <a:r>
              <a:rPr lang="en-US" sz="1800" dirty="0">
                <a:solidFill>
                  <a:schemeClr val="bg1"/>
                </a:solidFill>
              </a:rPr>
              <a:t>comprobante emitido, stock descontado y pago registrado en una sola operación. Los importes los calcula el servidor, nunca la pantalla.</a:t>
            </a:r>
            <a:endParaRPr lang="en-US" sz="1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2" name="Título 3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Todo lo que el operador necesita</a:t>
            </a:r>
            <a:endParaRPr lang="en-US" sz="3600" dirty="0"/>
          </a:p>
        </p:txBody>
      </p:sp>
      <p:sp>
        <p:nvSpPr>
          <p:cNvPr id="3" name="Función Registrar venta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4" name="Registrar venta cí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Registrar venta ícono" descr="Registrar ven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1869948"/>
            <a:ext cx="329184" cy="329184"/>
          </a:xfrm>
          <a:prstGeom prst="rect">
            <a:avLst/>
          </a:prstGeom>
        </p:spPr>
      </p:pic>
      <p:sp>
        <p:nvSpPr>
          <p:cNvPr id="6" name="Registrar venta título"/>
          <p:cNvSpPr txBox="1"/>
          <p:nvPr/>
        </p:nvSpPr>
        <p:spPr>
          <a:xfrm>
            <a:off x="169164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Registrar venta</a:t>
            </a:r>
            <a:endParaRPr lang="en-US" sz="2000" dirty="0"/>
          </a:p>
        </p:txBody>
      </p:sp>
      <p:sp>
        <p:nvSpPr>
          <p:cNvPr id="7" name="Registrar venta texto"/>
          <p:cNvSpPr txBox="1"/>
          <p:nvPr/>
        </p:nvSpPr>
        <p:spPr>
          <a:xfrm>
            <a:off x="82296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Cliente, artículos, comprobante y pago en una pantalla</a:t>
            </a:r>
            <a:endParaRPr lang="en-US" sz="1500" dirty="0"/>
          </a:p>
        </p:txBody>
      </p:sp>
      <p:sp>
        <p:nvSpPr>
          <p:cNvPr id="8" name="Función Clientes"/>
          <p:cNvSpPr/>
          <p:nvPr/>
        </p:nvSpPr>
        <p:spPr>
          <a:xfrm>
            <a:off x="434340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9" name="Clientes círculo"/>
          <p:cNvSpPr/>
          <p:nvPr/>
        </p:nvSpPr>
        <p:spPr>
          <a:xfrm>
            <a:off x="4617720" y="16916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Clientes ícono" descr="Client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1869948"/>
            <a:ext cx="329184" cy="329184"/>
          </a:xfrm>
          <a:prstGeom prst="rect">
            <a:avLst/>
          </a:prstGeom>
        </p:spPr>
      </p:pic>
      <p:sp>
        <p:nvSpPr>
          <p:cNvPr id="11" name="Clientes título"/>
          <p:cNvSpPr txBox="1"/>
          <p:nvPr/>
        </p:nvSpPr>
        <p:spPr>
          <a:xfrm>
            <a:off x="548640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Clientes</a:t>
            </a:r>
            <a:endParaRPr lang="en-US" sz="2000" dirty="0"/>
          </a:p>
        </p:txBody>
      </p:sp>
      <p:sp>
        <p:nvSpPr>
          <p:cNvPr id="12" name="Clientes texto"/>
          <p:cNvSpPr txBox="1"/>
          <p:nvPr/>
        </p:nvSpPr>
        <p:spPr>
          <a:xfrm>
            <a:off x="461772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Búsqueda por documento o nombre y alta con DNI o RUC</a:t>
            </a:r>
            <a:endParaRPr lang="en-US" sz="1500" dirty="0"/>
          </a:p>
        </p:txBody>
      </p:sp>
      <p:sp>
        <p:nvSpPr>
          <p:cNvPr id="13" name="Función Comprobantes"/>
          <p:cNvSpPr/>
          <p:nvPr/>
        </p:nvSpPr>
        <p:spPr>
          <a:xfrm>
            <a:off x="813816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4" name="Comprobantes círculo"/>
          <p:cNvSpPr/>
          <p:nvPr/>
        </p:nvSpPr>
        <p:spPr>
          <a:xfrm>
            <a:off x="8412480" y="16916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Comprobantes ícono" descr="Comprobant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788" y="1869948"/>
            <a:ext cx="329184" cy="329184"/>
          </a:xfrm>
          <a:prstGeom prst="rect">
            <a:avLst/>
          </a:prstGeom>
        </p:spPr>
      </p:pic>
      <p:sp>
        <p:nvSpPr>
          <p:cNvPr id="16" name="Comprobantes título"/>
          <p:cNvSpPr txBox="1"/>
          <p:nvPr/>
        </p:nvSpPr>
        <p:spPr>
          <a:xfrm>
            <a:off x="928116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Comprobantes</a:t>
            </a:r>
            <a:endParaRPr lang="en-US" sz="2000" dirty="0"/>
          </a:p>
        </p:txBody>
      </p:sp>
      <p:sp>
        <p:nvSpPr>
          <p:cNvPr id="17" name="Comprobantes texto"/>
          <p:cNvSpPr txBox="1"/>
          <p:nvPr/>
        </p:nvSpPr>
        <p:spPr>
          <a:xfrm>
            <a:off x="841248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Boleta o factura con serie del punto de venta y número único</a:t>
            </a:r>
            <a:endParaRPr lang="en-US" sz="1500" dirty="0"/>
          </a:p>
        </p:txBody>
      </p:sp>
      <p:sp>
        <p:nvSpPr>
          <p:cNvPr id="18" name="Función Medios de pago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9" name="Medios de pago círculo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Medios de pago ícono" descr="Medios de pa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" y="4293108"/>
            <a:ext cx="329184" cy="329184"/>
          </a:xfrm>
          <a:prstGeom prst="rect">
            <a:avLst/>
          </a:prstGeom>
        </p:spPr>
      </p:pic>
      <p:sp>
        <p:nvSpPr>
          <p:cNvPr id="21" name="Medios de pago título"/>
          <p:cNvSpPr txBox="1"/>
          <p:nvPr/>
        </p:nvSpPr>
        <p:spPr>
          <a:xfrm>
            <a:off x="169164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Medios de pago</a:t>
            </a:r>
            <a:endParaRPr lang="en-US" sz="2000" dirty="0"/>
          </a:p>
        </p:txBody>
      </p:sp>
      <p:sp>
        <p:nvSpPr>
          <p:cNvPr id="22" name="Medios de pago texto"/>
          <p:cNvSpPr txBox="1"/>
          <p:nvPr/>
        </p:nvSpPr>
        <p:spPr>
          <a:xfrm>
            <a:off x="822960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Efectivo, cheque, tarjetas de débito y crédito, y depósito</a:t>
            </a:r>
            <a:endParaRPr lang="en-US" sz="1500" dirty="0"/>
          </a:p>
        </p:txBody>
      </p:sp>
      <p:sp>
        <p:nvSpPr>
          <p:cNvPr id="23" name="Función Consultas y reporte"/>
          <p:cNvSpPr/>
          <p:nvPr/>
        </p:nvSpPr>
        <p:spPr>
          <a:xfrm>
            <a:off x="434340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4" name="Consultas y reporte círculo"/>
          <p:cNvSpPr/>
          <p:nvPr/>
        </p:nvSpPr>
        <p:spPr>
          <a:xfrm>
            <a:off x="4617720" y="4114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Consultas y reporte ícono" descr="Consultas y repor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028" y="4293108"/>
            <a:ext cx="329184" cy="329184"/>
          </a:xfrm>
          <a:prstGeom prst="rect">
            <a:avLst/>
          </a:prstGeom>
        </p:spPr>
      </p:pic>
      <p:sp>
        <p:nvSpPr>
          <p:cNvPr id="26" name="Consultas y reporte título"/>
          <p:cNvSpPr txBox="1"/>
          <p:nvPr/>
        </p:nvSpPr>
        <p:spPr>
          <a:xfrm>
            <a:off x="548640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Consultas y reporte</a:t>
            </a:r>
            <a:endParaRPr lang="en-US" sz="2000" dirty="0"/>
          </a:p>
        </p:txBody>
      </p:sp>
      <p:sp>
        <p:nvSpPr>
          <p:cNvPr id="27" name="Consultas y reporte texto"/>
          <p:cNvSpPr txBox="1"/>
          <p:nvPr/>
        </p:nvSpPr>
        <p:spPr>
          <a:xfrm>
            <a:off x="4617720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Búsqueda por número y reporte con totales por medio de pago</a:t>
            </a:r>
            <a:endParaRPr lang="en-US" sz="1500" dirty="0"/>
          </a:p>
        </p:txBody>
      </p:sp>
      <p:sp>
        <p:nvSpPr>
          <p:cNvPr id="28" name="Función Mis datos"/>
          <p:cNvSpPr/>
          <p:nvPr/>
        </p:nvSpPr>
        <p:spPr>
          <a:xfrm>
            <a:off x="813816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9" name="Mis datos círculo"/>
          <p:cNvSpPr/>
          <p:nvPr/>
        </p:nvSpPr>
        <p:spPr>
          <a:xfrm>
            <a:off x="8412480" y="4114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Mis datos ícono" descr="Mis dato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0788" y="4293108"/>
            <a:ext cx="329184" cy="329184"/>
          </a:xfrm>
          <a:prstGeom prst="rect">
            <a:avLst/>
          </a:prstGeom>
        </p:spPr>
      </p:pic>
      <p:sp>
        <p:nvSpPr>
          <p:cNvPr id="31" name="Mis datos título"/>
          <p:cNvSpPr txBox="1"/>
          <p:nvPr/>
        </p:nvSpPr>
        <p:spPr>
          <a:xfrm>
            <a:off x="928116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Mis datos</a:t>
            </a:r>
            <a:endParaRPr lang="en-US" sz="2000" dirty="0"/>
          </a:p>
        </p:txBody>
      </p:sp>
      <p:sp>
        <p:nvSpPr>
          <p:cNvPr id="32" name="Mis datos texto"/>
          <p:cNvSpPr txBox="1"/>
          <p:nvPr/>
        </p:nvSpPr>
        <p:spPr>
          <a:xfrm>
            <a:off x="8412480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Datos del usuario y cambio de contraseña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Arquitectura limpia en cuatro capas</a:t>
            </a:r>
            <a:endParaRPr lang="en-US" sz="3600" dirty="0"/>
          </a:p>
        </p:txBody>
      </p:sp>
      <p:sp>
        <p:nvSpPr>
          <p:cNvPr id="3" name="Capa Web"/>
          <p:cNvSpPr/>
          <p:nvPr/>
        </p:nvSpPr>
        <p:spPr>
          <a:xfrm>
            <a:off x="548640" y="1600200"/>
            <a:ext cx="22402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4" name="Web nombre"/>
          <p:cNvSpPr txBox="1"/>
          <p:nvPr/>
        </p:nvSpPr>
        <p:spPr>
          <a:xfrm>
            <a:off x="73152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Web</a:t>
            </a:r>
            <a:endParaRPr lang="en-US" sz="2000" dirty="0"/>
          </a:p>
        </p:txBody>
      </p:sp>
      <p:sp>
        <p:nvSpPr>
          <p:cNvPr id="5" name="Web descripción"/>
          <p:cNvSpPr txBox="1"/>
          <p:nvPr/>
        </p:nvSpPr>
        <p:spPr>
          <a:xfrm>
            <a:off x="731520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Controllers, vistas Razor, jQuery, sesión</a:t>
            </a:r>
            <a:endParaRPr lang="en-US" sz="1400" dirty="0"/>
          </a:p>
        </p:txBody>
      </p:sp>
      <p:sp>
        <p:nvSpPr>
          <p:cNvPr id="6" name="Capa Application"/>
          <p:cNvSpPr/>
          <p:nvPr/>
        </p:nvSpPr>
        <p:spPr>
          <a:xfrm>
            <a:off x="3154680" y="1600200"/>
            <a:ext cx="22402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7" name="Application nombre"/>
          <p:cNvSpPr txBox="1"/>
          <p:nvPr/>
        </p:nvSpPr>
        <p:spPr>
          <a:xfrm>
            <a:off x="333756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Application</a:t>
            </a:r>
            <a:endParaRPr lang="en-US" sz="2000" dirty="0"/>
          </a:p>
        </p:txBody>
      </p:sp>
      <p:sp>
        <p:nvSpPr>
          <p:cNvPr id="8" name="Application descripción"/>
          <p:cNvSpPr txBox="1"/>
          <p:nvPr/>
        </p:nvSpPr>
        <p:spPr>
          <a:xfrm>
            <a:off x="3337560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Casos de uso, DTOs, validaciones</a:t>
            </a:r>
            <a:endParaRPr lang="en-US" sz="1400" dirty="0"/>
          </a:p>
        </p:txBody>
      </p:sp>
      <p:sp>
        <p:nvSpPr>
          <p:cNvPr id="9" name="Capa Domain"/>
          <p:cNvSpPr/>
          <p:nvPr/>
        </p:nvSpPr>
        <p:spPr>
          <a:xfrm>
            <a:off x="5760720" y="1600200"/>
            <a:ext cx="224028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0" name="Domain nombre"/>
          <p:cNvSpPr txBox="1"/>
          <p:nvPr/>
        </p:nvSpPr>
        <p:spPr>
          <a:xfrm>
            <a:off x="594360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Domain</a:t>
            </a:r>
            <a:endParaRPr lang="en-US" sz="2000" dirty="0"/>
          </a:p>
        </p:txBody>
      </p:sp>
      <p:sp>
        <p:nvSpPr>
          <p:cNvPr id="11" name="Domain descripción"/>
          <p:cNvSpPr txBox="1"/>
          <p:nvPr/>
        </p:nvSpPr>
        <p:spPr>
          <a:xfrm>
            <a:off x="5943600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Entidades, importes, IGV, invariantes</a:t>
            </a:r>
            <a:endParaRPr lang="en-US" sz="1400" dirty="0"/>
          </a:p>
        </p:txBody>
      </p:sp>
      <p:sp>
        <p:nvSpPr>
          <p:cNvPr id="12" name="Capa Infrastructure"/>
          <p:cNvSpPr/>
          <p:nvPr/>
        </p:nvSpPr>
        <p:spPr>
          <a:xfrm>
            <a:off x="3154680" y="3977640"/>
            <a:ext cx="22402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3" name="Infrastructure nombre"/>
          <p:cNvSpPr txBox="1"/>
          <p:nvPr/>
        </p:nvSpPr>
        <p:spPr>
          <a:xfrm>
            <a:off x="3337560" y="4160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Infrastructure</a:t>
            </a:r>
            <a:endParaRPr lang="en-US" sz="2000" dirty="0"/>
          </a:p>
        </p:txBody>
      </p:sp>
      <p:sp>
        <p:nvSpPr>
          <p:cNvPr id="14" name="Infrastructure descripción"/>
          <p:cNvSpPr txBox="1"/>
          <p:nvPr/>
        </p:nvSpPr>
        <p:spPr>
          <a:xfrm>
            <a:off x="3337560" y="4663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EF Core, mapeo al esquema heredado</a:t>
            </a:r>
            <a:endParaRPr lang="en-US" sz="1400" dirty="0"/>
          </a:p>
        </p:txBody>
      </p:sp>
      <p:sp>
        <p:nvSpPr>
          <p:cNvPr id="15" name="Web a Application"/>
          <p:cNvSpPr/>
          <p:nvPr/>
        </p:nvSpPr>
        <p:spPr>
          <a:xfrm>
            <a:off x="2788920" y="240030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pplication a Domain"/>
          <p:cNvSpPr/>
          <p:nvPr/>
        </p:nvSpPr>
        <p:spPr>
          <a:xfrm>
            <a:off x="5394960" y="240030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Infrastructure a Application"/>
          <p:cNvSpPr/>
          <p:nvPr/>
        </p:nvSpPr>
        <p:spPr>
          <a:xfrm flipV="1">
            <a:off x="4274820" y="3200400"/>
            <a:ext cx="0" cy="7772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Web a Infrastructure"/>
          <p:cNvSpPr/>
          <p:nvPr/>
        </p:nvSpPr>
        <p:spPr>
          <a:xfrm>
            <a:off x="1668780" y="3200400"/>
            <a:ext cx="1485900" cy="15773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9" name="Leyenda"/>
          <p:cNvSpPr txBox="1"/>
          <p:nvPr/>
        </p:nvSpPr>
        <p:spPr>
          <a:xfrm>
            <a:off x="548640" y="5760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Las flechas indican dependencias. La Web referencia Infrastructure solo para registrar servicios (línea discontinua).</a:t>
            </a:r>
            <a:endParaRPr lang="en-US" sz="1200" dirty="0"/>
          </a:p>
        </p:txBody>
      </p:sp>
      <p:sp>
        <p:nvSpPr>
          <p:cNvPr id="20" name="Principio 1 círculo"/>
          <p:cNvSpPr/>
          <p:nvPr/>
        </p:nvSpPr>
        <p:spPr>
          <a:xfrm>
            <a:off x="84582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rincipio 1 ícono" descr="Principi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621" y="1766621"/>
            <a:ext cx="307238" cy="307238"/>
          </a:xfrm>
          <a:prstGeom prst="rect">
            <a:avLst/>
          </a:prstGeom>
        </p:spPr>
      </p:pic>
      <p:sp>
        <p:nvSpPr>
          <p:cNvPr id="22" name="Principio 1 texto"/>
          <p:cNvSpPr txBox="1"/>
          <p:nvPr/>
        </p:nvSpPr>
        <p:spPr>
          <a:xfrm>
            <a:off x="9281160" y="1554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El dominio no conoce la base de datos ni HTTP</a:t>
            </a:r>
            <a:endParaRPr lang="en-US" sz="1500" dirty="0"/>
          </a:p>
        </p:txBody>
      </p:sp>
      <p:sp>
        <p:nvSpPr>
          <p:cNvPr id="23" name="Principio 2 círculo"/>
          <p:cNvSpPr/>
          <p:nvPr/>
        </p:nvSpPr>
        <p:spPr>
          <a:xfrm>
            <a:off x="8458200" y="3017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Principio 2 ícono" descr="Principio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621" y="3183941"/>
            <a:ext cx="307238" cy="307238"/>
          </a:xfrm>
          <a:prstGeom prst="rect">
            <a:avLst/>
          </a:prstGeom>
        </p:spPr>
      </p:pic>
      <p:sp>
        <p:nvSpPr>
          <p:cNvPr id="25" name="Principio 2 texto"/>
          <p:cNvSpPr txBox="1"/>
          <p:nvPr/>
        </p:nvSpPr>
        <p:spPr>
          <a:xfrm>
            <a:off x="9281160" y="29718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Application declara interfaces; Infrastructure las implementa</a:t>
            </a:r>
            <a:endParaRPr lang="en-US" sz="1500" dirty="0"/>
          </a:p>
        </p:txBody>
      </p:sp>
      <p:sp>
        <p:nvSpPr>
          <p:cNvPr id="26" name="Principio 3 círculo"/>
          <p:cNvSpPr/>
          <p:nvPr/>
        </p:nvSpPr>
        <p:spPr>
          <a:xfrm>
            <a:off x="8458200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Principio 3 ícono" descr="Principio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21" y="4601261"/>
            <a:ext cx="307238" cy="307238"/>
          </a:xfrm>
          <a:prstGeom prst="rect">
            <a:avLst/>
          </a:prstGeom>
        </p:spPr>
      </p:pic>
      <p:sp>
        <p:nvSpPr>
          <p:cNvPr id="28" name="Principio 3 texto"/>
          <p:cNvSpPr txBox="1"/>
          <p:nvPr/>
        </p:nvSpPr>
        <p:spPr>
          <a:xfrm>
            <a:off x="9281160" y="43891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Los nombres heredados solo existen en Infrastructure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Cada venta se graba completa o no se graba</a:t>
            </a:r>
            <a:endParaRPr lang="en-US" sz="3600" dirty="0"/>
          </a:p>
        </p:txBody>
      </p:sp>
      <p:sp>
        <p:nvSpPr>
          <p:cNvPr id="3" name="Transacción"/>
          <p:cNvSpPr/>
          <p:nvPr/>
        </p:nvSpPr>
        <p:spPr>
          <a:xfrm>
            <a:off x="548640" y="1417320"/>
            <a:ext cx="110642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ransacción título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Una única transacción de base de datos</a:t>
            </a:r>
            <a:endParaRPr lang="en-US" sz="1600" dirty="0"/>
          </a:p>
        </p:txBody>
      </p:sp>
      <p:sp>
        <p:nvSpPr>
          <p:cNvPr id="5" name="Paso grabado Venta"/>
          <p:cNvSpPr/>
          <p:nvPr/>
        </p:nvSpPr>
        <p:spPr>
          <a:xfrm>
            <a:off x="822960" y="2057400"/>
            <a:ext cx="23774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6" name="Venta círculo"/>
          <p:cNvSpPr/>
          <p:nvPr/>
        </p:nvSpPr>
        <p:spPr>
          <a:xfrm>
            <a:off x="1005840" y="221284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Venta ícono" descr="Ven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86" y="2355494"/>
            <a:ext cx="263347" cy="263347"/>
          </a:xfrm>
          <a:prstGeom prst="rect">
            <a:avLst/>
          </a:prstGeom>
        </p:spPr>
      </p:pic>
      <p:sp>
        <p:nvSpPr>
          <p:cNvPr id="8" name="Venta título"/>
          <p:cNvSpPr txBox="1"/>
          <p:nvPr/>
        </p:nvSpPr>
        <p:spPr>
          <a:xfrm>
            <a:off x="1691640" y="22128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Venta</a:t>
            </a:r>
            <a:endParaRPr lang="en-US" sz="1700" dirty="0"/>
          </a:p>
        </p:txBody>
      </p:sp>
      <p:sp>
        <p:nvSpPr>
          <p:cNvPr id="9" name="Venta texto"/>
          <p:cNvSpPr txBox="1"/>
          <p:nvPr/>
        </p:nvSpPr>
        <p:spPr>
          <a:xfrm>
            <a:off x="1005840" y="28529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Cabecera y detalle con importes del dominio</a:t>
            </a:r>
            <a:endParaRPr lang="en-US" sz="1300" dirty="0"/>
          </a:p>
        </p:txBody>
      </p:sp>
      <p:sp>
        <p:nvSpPr>
          <p:cNvPr id="10" name="Flecha grabado 1"/>
          <p:cNvSpPr/>
          <p:nvPr/>
        </p:nvSpPr>
        <p:spPr>
          <a:xfrm>
            <a:off x="3273552" y="2715768"/>
            <a:ext cx="182880" cy="329184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1" name="Paso grabado Comprobante"/>
          <p:cNvSpPr/>
          <p:nvPr/>
        </p:nvSpPr>
        <p:spPr>
          <a:xfrm>
            <a:off x="3520440" y="2057400"/>
            <a:ext cx="23774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2" name="Comprobante círculo"/>
          <p:cNvSpPr/>
          <p:nvPr/>
        </p:nvSpPr>
        <p:spPr>
          <a:xfrm>
            <a:off x="3703320" y="221284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Comprobante ícono" descr="Comproban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966" y="2355494"/>
            <a:ext cx="263347" cy="263347"/>
          </a:xfrm>
          <a:prstGeom prst="rect">
            <a:avLst/>
          </a:prstGeom>
        </p:spPr>
      </p:pic>
      <p:sp>
        <p:nvSpPr>
          <p:cNvPr id="14" name="Comprobante título"/>
          <p:cNvSpPr txBox="1"/>
          <p:nvPr/>
        </p:nvSpPr>
        <p:spPr>
          <a:xfrm>
            <a:off x="4389120" y="22128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Comprobante</a:t>
            </a:r>
            <a:endParaRPr lang="en-US" sz="1700" dirty="0"/>
          </a:p>
        </p:txBody>
      </p:sp>
      <p:sp>
        <p:nvSpPr>
          <p:cNvPr id="15" name="Comprobante texto"/>
          <p:cNvSpPr txBox="1"/>
          <p:nvPr/>
        </p:nvSpPr>
        <p:spPr>
          <a:xfrm>
            <a:off x="3703320" y="28529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Serie y correlativo con bloqueo de la impresora</a:t>
            </a:r>
            <a:endParaRPr lang="en-US" sz="1300" dirty="0"/>
          </a:p>
        </p:txBody>
      </p:sp>
      <p:sp>
        <p:nvSpPr>
          <p:cNvPr id="16" name="Flecha grabado 2"/>
          <p:cNvSpPr/>
          <p:nvPr/>
        </p:nvSpPr>
        <p:spPr>
          <a:xfrm>
            <a:off x="5971032" y="2715768"/>
            <a:ext cx="182880" cy="329184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7" name="Paso grabado Kardex"/>
          <p:cNvSpPr/>
          <p:nvPr/>
        </p:nvSpPr>
        <p:spPr>
          <a:xfrm>
            <a:off x="6217920" y="2057400"/>
            <a:ext cx="23774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8" name="Kardex círculo"/>
          <p:cNvSpPr/>
          <p:nvPr/>
        </p:nvSpPr>
        <p:spPr>
          <a:xfrm>
            <a:off x="6400800" y="221284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Kardex ícono" descr="Karde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446" y="2355494"/>
            <a:ext cx="263347" cy="263347"/>
          </a:xfrm>
          <a:prstGeom prst="rect">
            <a:avLst/>
          </a:prstGeom>
        </p:spPr>
      </p:pic>
      <p:sp>
        <p:nvSpPr>
          <p:cNvPr id="20" name="Kardex título"/>
          <p:cNvSpPr txBox="1"/>
          <p:nvPr/>
        </p:nvSpPr>
        <p:spPr>
          <a:xfrm>
            <a:off x="7086600" y="22128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Kardex</a:t>
            </a:r>
            <a:endParaRPr lang="en-US" sz="1700" dirty="0"/>
          </a:p>
        </p:txBody>
      </p:sp>
      <p:sp>
        <p:nvSpPr>
          <p:cNvPr id="21" name="Kardex texto"/>
          <p:cNvSpPr txBox="1"/>
          <p:nvPr/>
        </p:nvSpPr>
        <p:spPr>
          <a:xfrm>
            <a:off x="6400800" y="28529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Una salida de stock por cada línea</a:t>
            </a:r>
            <a:endParaRPr lang="en-US" sz="1300" dirty="0"/>
          </a:p>
        </p:txBody>
      </p:sp>
      <p:sp>
        <p:nvSpPr>
          <p:cNvPr id="22" name="Flecha grabado 3"/>
          <p:cNvSpPr/>
          <p:nvPr/>
        </p:nvSpPr>
        <p:spPr>
          <a:xfrm>
            <a:off x="8668512" y="2715768"/>
            <a:ext cx="182880" cy="329184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3" name="Paso grabado Pago"/>
          <p:cNvSpPr/>
          <p:nvPr/>
        </p:nvSpPr>
        <p:spPr>
          <a:xfrm>
            <a:off x="8915400" y="2057400"/>
            <a:ext cx="23774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4" name="Pago círculo"/>
          <p:cNvSpPr/>
          <p:nvPr/>
        </p:nvSpPr>
        <p:spPr>
          <a:xfrm>
            <a:off x="9098280" y="221284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Pago ícono" descr="Pa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926" y="2355494"/>
            <a:ext cx="263347" cy="263347"/>
          </a:xfrm>
          <a:prstGeom prst="rect">
            <a:avLst/>
          </a:prstGeom>
        </p:spPr>
      </p:pic>
      <p:sp>
        <p:nvSpPr>
          <p:cNvPr id="26" name="Pago título"/>
          <p:cNvSpPr txBox="1"/>
          <p:nvPr/>
        </p:nvSpPr>
        <p:spPr>
          <a:xfrm>
            <a:off x="9784080" y="22128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Pago</a:t>
            </a:r>
            <a:endParaRPr lang="en-US" sz="1700" dirty="0"/>
          </a:p>
        </p:txBody>
      </p:sp>
      <p:sp>
        <p:nvSpPr>
          <p:cNvPr id="27" name="Pago texto"/>
          <p:cNvSpPr txBox="1"/>
          <p:nvPr/>
        </p:nvSpPr>
        <p:spPr>
          <a:xfrm>
            <a:off x="9098280" y="28529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 medio por el total, asignado al comprobante</a:t>
            </a:r>
            <a:endParaRPr lang="en-US" sz="1300" dirty="0"/>
          </a:p>
        </p:txBody>
      </p:sp>
      <p:sp>
        <p:nvSpPr>
          <p:cNvPr id="28" name="Stock sin carreras círculo"/>
          <p:cNvSpPr/>
          <p:nvPr/>
        </p:nvSpPr>
        <p:spPr>
          <a:xfrm>
            <a:off x="548640" y="43434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Stock sin carreras ícono" descr="Stock sin carrera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" y="4521708"/>
            <a:ext cx="329184" cy="329184"/>
          </a:xfrm>
          <a:prstGeom prst="rect">
            <a:avLst/>
          </a:prstGeom>
        </p:spPr>
      </p:pic>
      <p:sp>
        <p:nvSpPr>
          <p:cNvPr id="30" name="Stock sin carreras título"/>
          <p:cNvSpPr txBox="1"/>
          <p:nvPr/>
        </p:nvSpPr>
        <p:spPr>
          <a:xfrm>
            <a:off x="1417320" y="4315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Stock sin carreras</a:t>
            </a:r>
            <a:endParaRPr lang="en-US" sz="1800" dirty="0"/>
          </a:p>
        </p:txBody>
      </p:sp>
      <p:sp>
        <p:nvSpPr>
          <p:cNvPr id="31" name="Stock sin carreras texto"/>
          <p:cNvSpPr txBox="1"/>
          <p:nvPr/>
        </p:nvSpPr>
        <p:spPr>
          <a:xfrm>
            <a:off x="1417320" y="4754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Bloqueo por artículo y punto de venta antes de leer el stock</a:t>
            </a:r>
            <a:endParaRPr lang="en-US" sz="1400" dirty="0"/>
          </a:p>
        </p:txBody>
      </p:sp>
      <p:sp>
        <p:nvSpPr>
          <p:cNvPr id="32" name="Número único círculo"/>
          <p:cNvSpPr/>
          <p:nvPr/>
        </p:nvSpPr>
        <p:spPr>
          <a:xfrm>
            <a:off x="4343400" y="43434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Número único ícono" descr="Número únic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708" y="4521708"/>
            <a:ext cx="329184" cy="329184"/>
          </a:xfrm>
          <a:prstGeom prst="rect">
            <a:avLst/>
          </a:prstGeom>
        </p:spPr>
      </p:pic>
      <p:sp>
        <p:nvSpPr>
          <p:cNvPr id="34" name="Número único título"/>
          <p:cNvSpPr txBox="1"/>
          <p:nvPr/>
        </p:nvSpPr>
        <p:spPr>
          <a:xfrm>
            <a:off x="5212080" y="4315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Número único</a:t>
            </a:r>
            <a:endParaRPr lang="en-US" sz="1800" dirty="0"/>
          </a:p>
        </p:txBody>
      </p:sp>
      <p:sp>
        <p:nvSpPr>
          <p:cNvPr id="35" name="Número único texto"/>
          <p:cNvSpPr txBox="1"/>
          <p:nvPr/>
        </p:nvSpPr>
        <p:spPr>
          <a:xfrm>
            <a:off x="5212080" y="4754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 la venta falla, el correlativo no avanza</a:t>
            </a:r>
            <a:endParaRPr lang="en-US" sz="1400" dirty="0"/>
          </a:p>
        </p:txBody>
      </p:sp>
      <p:sp>
        <p:nvSpPr>
          <p:cNvPr id="36" name="Todo o nada círculo"/>
          <p:cNvSpPr/>
          <p:nvPr/>
        </p:nvSpPr>
        <p:spPr>
          <a:xfrm>
            <a:off x="8138160" y="43434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7" name="Todo o nada ícono" descr="Todo o nad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6468" y="4521708"/>
            <a:ext cx="329184" cy="329184"/>
          </a:xfrm>
          <a:prstGeom prst="rect">
            <a:avLst/>
          </a:prstGeom>
        </p:spPr>
      </p:pic>
      <p:sp>
        <p:nvSpPr>
          <p:cNvPr id="38" name="Todo o nada título"/>
          <p:cNvSpPr txBox="1"/>
          <p:nvPr/>
        </p:nvSpPr>
        <p:spPr>
          <a:xfrm>
            <a:off x="9006840" y="4315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Todo o nada</a:t>
            </a:r>
            <a:endParaRPr lang="en-US" sz="1800" dirty="0"/>
          </a:p>
        </p:txBody>
      </p:sp>
      <p:sp>
        <p:nvSpPr>
          <p:cNvPr id="39" name="Todo o nada texto"/>
          <p:cNvSpPr txBox="1"/>
          <p:nvPr/>
        </p:nvSpPr>
        <p:spPr>
          <a:xfrm>
            <a:off x="9006840" y="4754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Cualquier error deshace venta, comprobante, kardex y pago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Las reglas de negocio viven en el dominio</a:t>
            </a:r>
            <a:endParaRPr lang="en-US" sz="3600" dirty="0"/>
          </a:p>
        </p:txBody>
      </p:sp>
      <p:sp>
        <p:nvSpPr>
          <p:cNvPr id="3" name="Ejemplo de cálculo"/>
          <p:cNvSpPr/>
          <p:nvPr/>
        </p:nvSpPr>
        <p:spPr>
          <a:xfrm>
            <a:off x="548640" y="1417320"/>
            <a:ext cx="4937760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4" name="Ejemplo título"/>
          <p:cNvSpPr txBox="1"/>
          <p:nvPr/>
        </p:nvSpPr>
        <p:spPr>
          <a:xfrm>
            <a:off x="86868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</a:rPr>
              <a:t>Ejemplo: 2 unidades a S/ 59.00</a:t>
            </a:r>
            <a:endParaRPr lang="en-US" sz="1800" dirty="0"/>
          </a:p>
        </p:txBody>
      </p:sp>
      <p:sp>
        <p:nvSpPr>
          <p:cNvPr id="5" name="Ejemplo total"/>
          <p:cNvSpPr txBox="1"/>
          <p:nvPr/>
        </p:nvSpPr>
        <p:spPr>
          <a:xfrm>
            <a:off x="868680" y="2194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S/ 118.00</a:t>
            </a:r>
            <a:endParaRPr lang="en-US" sz="6000" dirty="0"/>
          </a:p>
        </p:txBody>
      </p:sp>
      <p:sp>
        <p:nvSpPr>
          <p:cNvPr id="6" name="Ejemplo total etiqueta"/>
          <p:cNvSpPr txBox="1"/>
          <p:nvPr/>
        </p:nvSpPr>
        <p:spPr>
          <a:xfrm>
            <a:off x="86868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importe con IGV de la línea</a:t>
            </a:r>
            <a:endParaRPr lang="en-US" sz="1400" dirty="0"/>
          </a:p>
        </p:txBody>
      </p:sp>
      <p:sp>
        <p:nvSpPr>
          <p:cNvPr id="7" name="Desglose 1 concepto"/>
          <p:cNvSpPr txBox="1"/>
          <p:nvPr/>
        </p:nvSpPr>
        <p:spPr>
          <a:xfrm>
            <a:off x="86868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Valor venta</a:t>
            </a:r>
            <a:endParaRPr lang="en-US" sz="1800" dirty="0"/>
          </a:p>
        </p:txBody>
      </p:sp>
      <p:sp>
        <p:nvSpPr>
          <p:cNvPr id="8" name="Desglose 1 importe"/>
          <p:cNvSpPr txBox="1"/>
          <p:nvPr/>
        </p:nvSpPr>
        <p:spPr>
          <a:xfrm>
            <a:off x="3611880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S/ 100.00</a:t>
            </a:r>
            <a:endParaRPr lang="en-US" sz="1800" dirty="0"/>
          </a:p>
        </p:txBody>
      </p:sp>
      <p:sp>
        <p:nvSpPr>
          <p:cNvPr id="9" name="Desglose 2 concepto"/>
          <p:cNvSpPr txBox="1"/>
          <p:nvPr/>
        </p:nvSpPr>
        <p:spPr>
          <a:xfrm>
            <a:off x="86868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IGV 18 %</a:t>
            </a:r>
            <a:endParaRPr lang="en-US" sz="1800" dirty="0"/>
          </a:p>
        </p:txBody>
      </p:sp>
      <p:sp>
        <p:nvSpPr>
          <p:cNvPr id="10" name="Desglose 2 importe"/>
          <p:cNvSpPr txBox="1"/>
          <p:nvPr/>
        </p:nvSpPr>
        <p:spPr>
          <a:xfrm>
            <a:off x="3611880" y="4206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S/ 18.00</a:t>
            </a:r>
            <a:endParaRPr lang="en-US" sz="1800" dirty="0"/>
          </a:p>
        </p:txBody>
      </p:sp>
      <p:sp>
        <p:nvSpPr>
          <p:cNvPr id="11" name="Desglose 3 concepto"/>
          <p:cNvSpPr txBox="1"/>
          <p:nvPr/>
        </p:nvSpPr>
        <p:spPr>
          <a:xfrm>
            <a:off x="868680" y="4663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Libro exonerado: IGV</a:t>
            </a:r>
            <a:endParaRPr lang="en-US" sz="1800" dirty="0"/>
          </a:p>
        </p:txBody>
      </p:sp>
      <p:sp>
        <p:nvSpPr>
          <p:cNvPr id="12" name="Desglose 3 importe"/>
          <p:cNvSpPr txBox="1"/>
          <p:nvPr/>
        </p:nvSpPr>
        <p:spPr>
          <a:xfrm>
            <a:off x="3611880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S/ 0.00</a:t>
            </a:r>
            <a:endParaRPr lang="en-US" sz="1800" dirty="0"/>
          </a:p>
        </p:txBody>
      </p:sp>
      <p:sp>
        <p:nvSpPr>
          <p:cNvPr id="13" name="Ejemplo nota"/>
          <p:cNvSpPr txBox="1"/>
          <p:nvPr/>
        </p:nvSpPr>
        <p:spPr>
          <a:xfrm>
            <a:off x="868680" y="5349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La tarifa incluye el IGV; el sistema lo desglosa.</a:t>
            </a:r>
            <a:endParaRPr lang="en-US" sz="1400" dirty="0"/>
          </a:p>
        </p:txBody>
      </p:sp>
      <p:sp>
        <p:nvSpPr>
          <p:cNvPr id="14" name="Regla IGV por artículo"/>
          <p:cNvSpPr/>
          <p:nvPr/>
        </p:nvSpPr>
        <p:spPr>
          <a:xfrm>
            <a:off x="5852160" y="1417320"/>
            <a:ext cx="27432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5" name="IGV por artículo círculo"/>
          <p:cNvSpPr/>
          <p:nvPr/>
        </p:nvSpPr>
        <p:spPr>
          <a:xfrm>
            <a:off x="608076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GV por artículo ícono" descr="IGV por artícu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294" y="1800454"/>
            <a:ext cx="285293" cy="285293"/>
          </a:xfrm>
          <a:prstGeom prst="rect">
            <a:avLst/>
          </a:prstGeom>
        </p:spPr>
      </p:pic>
      <p:sp>
        <p:nvSpPr>
          <p:cNvPr id="17" name="IGV por artículo título"/>
          <p:cNvSpPr txBox="1"/>
          <p:nvPr/>
        </p:nvSpPr>
        <p:spPr>
          <a:xfrm>
            <a:off x="608076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IGV por artículo</a:t>
            </a:r>
            <a:endParaRPr lang="en-US" sz="1800" dirty="0"/>
          </a:p>
        </p:txBody>
      </p:sp>
      <p:sp>
        <p:nvSpPr>
          <p:cNvPr id="18" name="IGV por artículo texto"/>
          <p:cNvSpPr txBox="1"/>
          <p:nvPr/>
        </p:nvSpPr>
        <p:spPr>
          <a:xfrm>
            <a:off x="6080760" y="2743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18 % o exonerado, según SGP_DETALLE_IVA</a:t>
            </a:r>
            <a:endParaRPr lang="en-US" sz="1400" dirty="0"/>
          </a:p>
        </p:txBody>
      </p:sp>
      <p:sp>
        <p:nvSpPr>
          <p:cNvPr id="19" name="Regla Escalas de precio"/>
          <p:cNvSpPr/>
          <p:nvPr/>
        </p:nvSpPr>
        <p:spPr>
          <a:xfrm>
            <a:off x="8869680" y="1417320"/>
            <a:ext cx="27432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0" name="Escalas de precio círculo"/>
          <p:cNvSpPr/>
          <p:nvPr/>
        </p:nvSpPr>
        <p:spPr>
          <a:xfrm>
            <a:off x="909828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Escalas de precio ícono" descr="Escalas de prec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814" y="1800454"/>
            <a:ext cx="285293" cy="285293"/>
          </a:xfrm>
          <a:prstGeom prst="rect">
            <a:avLst/>
          </a:prstGeom>
        </p:spPr>
      </p:pic>
      <p:sp>
        <p:nvSpPr>
          <p:cNvPr id="22" name="Escalas de precio título"/>
          <p:cNvSpPr txBox="1"/>
          <p:nvPr/>
        </p:nvSpPr>
        <p:spPr>
          <a:xfrm>
            <a:off x="909828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Escalas de precio</a:t>
            </a:r>
            <a:endParaRPr lang="en-US" sz="1800" dirty="0"/>
          </a:p>
        </p:txBody>
      </p:sp>
      <p:sp>
        <p:nvSpPr>
          <p:cNvPr id="23" name="Escalas de precio texto"/>
          <p:cNvSpPr txBox="1"/>
          <p:nvPr/>
        </p:nvSpPr>
        <p:spPr>
          <a:xfrm>
            <a:off x="9098280" y="2743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Menor escala que cubre la cantidad vendida</a:t>
            </a:r>
            <a:endParaRPr lang="en-US" sz="1400" dirty="0"/>
          </a:p>
        </p:txBody>
      </p:sp>
      <p:sp>
        <p:nvSpPr>
          <p:cNvPr id="24" name="Regla Numeración"/>
          <p:cNvSpPr/>
          <p:nvPr/>
        </p:nvSpPr>
        <p:spPr>
          <a:xfrm>
            <a:off x="5852160" y="3840480"/>
            <a:ext cx="27432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5" name="Numeración círculo"/>
          <p:cNvSpPr/>
          <p:nvPr/>
        </p:nvSpPr>
        <p:spPr>
          <a:xfrm>
            <a:off x="6080760" y="4069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Numeración ícono" descr="Numeració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294" y="4223614"/>
            <a:ext cx="285293" cy="285293"/>
          </a:xfrm>
          <a:prstGeom prst="rect">
            <a:avLst/>
          </a:prstGeom>
        </p:spPr>
      </p:pic>
      <p:sp>
        <p:nvSpPr>
          <p:cNvPr id="27" name="Numeración título"/>
          <p:cNvSpPr txBox="1"/>
          <p:nvPr/>
        </p:nvSpPr>
        <p:spPr>
          <a:xfrm>
            <a:off x="6080760" y="4754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Numeración</a:t>
            </a:r>
            <a:endParaRPr lang="en-US" sz="1800" dirty="0"/>
          </a:p>
        </p:txBody>
      </p:sp>
      <p:sp>
        <p:nvSpPr>
          <p:cNvPr id="28" name="Numeración texto"/>
          <p:cNvSpPr txBox="1"/>
          <p:nvPr/>
        </p:nvSpPr>
        <p:spPr>
          <a:xfrm>
            <a:off x="6080760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 o F + punto de venta y 7 dígitos: B002-0155332</a:t>
            </a:r>
            <a:endParaRPr lang="en-US" sz="1400" dirty="0"/>
          </a:p>
        </p:txBody>
      </p:sp>
      <p:sp>
        <p:nvSpPr>
          <p:cNvPr id="29" name="Regla Categorías"/>
          <p:cNvSpPr/>
          <p:nvPr/>
        </p:nvSpPr>
        <p:spPr>
          <a:xfrm>
            <a:off x="8869680" y="3840480"/>
            <a:ext cx="27432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30" name="Categorías círculo"/>
          <p:cNvSpPr/>
          <p:nvPr/>
        </p:nvSpPr>
        <p:spPr>
          <a:xfrm>
            <a:off x="9098280" y="4069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ategorías ícono" descr="Categorí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2814" y="4223614"/>
            <a:ext cx="285293" cy="285293"/>
          </a:xfrm>
          <a:prstGeom prst="rect">
            <a:avLst/>
          </a:prstGeom>
        </p:spPr>
      </p:pic>
      <p:sp>
        <p:nvSpPr>
          <p:cNvPr id="32" name="Categorías título"/>
          <p:cNvSpPr txBox="1"/>
          <p:nvPr/>
        </p:nvSpPr>
        <p:spPr>
          <a:xfrm>
            <a:off x="9098280" y="4754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Categorías</a:t>
            </a:r>
            <a:endParaRPr lang="en-US" sz="1800" dirty="0"/>
          </a:p>
        </p:txBody>
      </p:sp>
      <p:sp>
        <p:nvSpPr>
          <p:cNvPr id="33" name="Categorías texto"/>
          <p:cNvSpPr txBox="1"/>
          <p:nvPr/>
        </p:nvSpPr>
        <p:spPr>
          <a:xfrm>
            <a:off x="9098280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Artículos agrupados por categoría de venta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Seguridad desde el diseño</a:t>
            </a:r>
            <a:endParaRPr lang="en-US" sz="3600" dirty="0"/>
          </a:p>
        </p:txBody>
      </p:sp>
      <p:sp>
        <p:nvSpPr>
          <p:cNvPr id="3" name="Sesión segura círculo"/>
          <p:cNvSpPr/>
          <p:nvPr/>
        </p:nvSpPr>
        <p:spPr>
          <a:xfrm>
            <a:off x="548640" y="1417320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Sesión segura ícono" descr="Sesión segu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1588496"/>
            <a:ext cx="316017" cy="316017"/>
          </a:xfrm>
          <a:prstGeom prst="rect">
            <a:avLst/>
          </a:prstGeom>
        </p:spPr>
      </p:pic>
      <p:sp>
        <p:nvSpPr>
          <p:cNvPr id="5" name="Sesión segura título"/>
          <p:cNvSpPr txBox="1"/>
          <p:nvPr/>
        </p:nvSpPr>
        <p:spPr>
          <a:xfrm>
            <a:off x="1417320" y="1399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Sesión segura</a:t>
            </a:r>
            <a:endParaRPr lang="en-US" sz="1800" dirty="0"/>
          </a:p>
        </p:txBody>
      </p:sp>
      <p:sp>
        <p:nvSpPr>
          <p:cNvPr id="6" name="Sesión segura texto"/>
          <p:cNvSpPr txBox="1"/>
          <p:nvPr/>
        </p:nvSpPr>
        <p:spPr>
          <a:xfrm>
            <a:off x="1417320" y="1764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Cookie HttpOnly, Secure y SameSite=Strict de 8 horas, revalidada en cada petición</a:t>
            </a:r>
            <a:endParaRPr lang="en-US" sz="1400" dirty="0"/>
          </a:p>
        </p:txBody>
      </p:sp>
      <p:sp>
        <p:nvSpPr>
          <p:cNvPr id="7" name="Aislamiento por punto de venta círculo"/>
          <p:cNvSpPr/>
          <p:nvPr/>
        </p:nvSpPr>
        <p:spPr>
          <a:xfrm>
            <a:off x="548640" y="2350008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islamiento por punto de venta ícono" descr="Aislamiento por punto de ven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2521184"/>
            <a:ext cx="316017" cy="316017"/>
          </a:xfrm>
          <a:prstGeom prst="rect">
            <a:avLst/>
          </a:prstGeom>
        </p:spPr>
      </p:pic>
      <p:sp>
        <p:nvSpPr>
          <p:cNvPr id="9" name="Aislamiento por punto de venta título"/>
          <p:cNvSpPr txBox="1"/>
          <p:nvPr/>
        </p:nvSpPr>
        <p:spPr>
          <a:xfrm>
            <a:off x="1417320" y="2331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Aislamiento por punto de venta</a:t>
            </a:r>
            <a:endParaRPr lang="en-US" sz="1800" dirty="0"/>
          </a:p>
        </p:txBody>
      </p:sp>
      <p:sp>
        <p:nvSpPr>
          <p:cNvPr id="10" name="Aislamiento por punto de venta texto"/>
          <p:cNvSpPr txBox="1"/>
          <p:nvPr/>
        </p:nvSpPr>
        <p:spPr>
          <a:xfrm>
            <a:off x="1417320" y="2697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 toma de la sesión, nunca de la petición; otro punto de venta recibe 403</a:t>
            </a:r>
            <a:endParaRPr lang="en-US" sz="1400" dirty="0"/>
          </a:p>
        </p:txBody>
      </p:sp>
      <p:sp>
        <p:nvSpPr>
          <p:cNvPr id="11" name="Antifalsificación círculo"/>
          <p:cNvSpPr/>
          <p:nvPr/>
        </p:nvSpPr>
        <p:spPr>
          <a:xfrm>
            <a:off x="548640" y="3282696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Antifalsificación ícono" descr="Antifalsificació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6" y="3453872"/>
            <a:ext cx="316017" cy="316017"/>
          </a:xfrm>
          <a:prstGeom prst="rect">
            <a:avLst/>
          </a:prstGeom>
        </p:spPr>
      </p:pic>
      <p:sp>
        <p:nvSpPr>
          <p:cNvPr id="13" name="Antifalsificación título"/>
          <p:cNvSpPr txBox="1"/>
          <p:nvPr/>
        </p:nvSpPr>
        <p:spPr>
          <a:xfrm>
            <a:off x="1417320" y="3264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Antifalsificación</a:t>
            </a:r>
            <a:endParaRPr lang="en-US" sz="1800" dirty="0"/>
          </a:p>
        </p:txBody>
      </p:sp>
      <p:sp>
        <p:nvSpPr>
          <p:cNvPr id="14" name="Antifalsificación texto"/>
          <p:cNvSpPr txBox="1"/>
          <p:nvPr/>
        </p:nvSpPr>
        <p:spPr>
          <a:xfrm>
            <a:off x="1417320" y="36301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Token obligatorio en todo formulario y llamada POST</a:t>
            </a:r>
            <a:endParaRPr lang="en-US" sz="1400" dirty="0"/>
          </a:p>
        </p:txBody>
      </p:sp>
      <p:sp>
        <p:nvSpPr>
          <p:cNvPr id="15" name="Contraseñas protegidas círculo"/>
          <p:cNvSpPr/>
          <p:nvPr/>
        </p:nvSpPr>
        <p:spPr>
          <a:xfrm>
            <a:off x="548640" y="4215384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Contraseñas protegidas ícono" descr="Contraseñas protegid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6" y="4386560"/>
            <a:ext cx="316017" cy="316017"/>
          </a:xfrm>
          <a:prstGeom prst="rect">
            <a:avLst/>
          </a:prstGeom>
        </p:spPr>
      </p:pic>
      <p:sp>
        <p:nvSpPr>
          <p:cNvPr id="17" name="Contraseñas protegidas título"/>
          <p:cNvSpPr txBox="1"/>
          <p:nvPr/>
        </p:nvSpPr>
        <p:spPr>
          <a:xfrm>
            <a:off x="1417320" y="41970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Contraseñas protegidas</a:t>
            </a:r>
            <a:endParaRPr lang="en-US" sz="1800" dirty="0"/>
          </a:p>
        </p:txBody>
      </p:sp>
      <p:sp>
        <p:nvSpPr>
          <p:cNvPr id="18" name="Contraseñas protegidas texto"/>
          <p:cNvSpPr txBox="1"/>
          <p:nvPr/>
        </p:nvSpPr>
        <p:spPr>
          <a:xfrm>
            <a:off x="1417320" y="45628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Comparación en tiempo constante; nunca en logs, cookies ni respuestas</a:t>
            </a:r>
            <a:endParaRPr lang="en-US" sz="1400" dirty="0"/>
          </a:p>
        </p:txBody>
      </p:sp>
      <p:sp>
        <p:nvSpPr>
          <p:cNvPr id="19" name="Errores controlados círculo"/>
          <p:cNvSpPr/>
          <p:nvPr/>
        </p:nvSpPr>
        <p:spPr>
          <a:xfrm>
            <a:off x="548640" y="514807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Errores controlados ícono" descr="Errores controlado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16" y="5319248"/>
            <a:ext cx="316017" cy="316017"/>
          </a:xfrm>
          <a:prstGeom prst="rect">
            <a:avLst/>
          </a:prstGeom>
        </p:spPr>
      </p:pic>
      <p:sp>
        <p:nvSpPr>
          <p:cNvPr id="21" name="Errores controlados título"/>
          <p:cNvSpPr txBox="1"/>
          <p:nvPr/>
        </p:nvSpPr>
        <p:spPr>
          <a:xfrm>
            <a:off x="1417320" y="51297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Errores controlados</a:t>
            </a:r>
            <a:endParaRPr lang="en-US" sz="1800" dirty="0"/>
          </a:p>
        </p:txBody>
      </p:sp>
      <p:sp>
        <p:nvSpPr>
          <p:cNvPr id="22" name="Errores controlados texto"/>
          <p:cNvSpPr txBox="1"/>
          <p:nvPr/>
        </p:nvSpPr>
        <p:spPr>
          <a:xfrm>
            <a:off x="1417320" y="54955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ProblemDetails (RFC 7807) sin detalles internos</a:t>
            </a:r>
            <a:endParaRPr lang="en-US" sz="1400" dirty="0"/>
          </a:p>
        </p:txBody>
      </p:sp>
      <p:sp>
        <p:nvSpPr>
          <p:cNvPr id="23" name="Riesgo aceptado"/>
          <p:cNvSpPr/>
          <p:nvPr/>
        </p:nvSpPr>
        <p:spPr>
          <a:xfrm>
            <a:off x="7955280" y="1417320"/>
            <a:ext cx="3657600" cy="4389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4" name="Riesgo círculo"/>
          <p:cNvSpPr/>
          <p:nvPr/>
        </p:nvSpPr>
        <p:spPr>
          <a:xfrm>
            <a:off x="8229600" y="17373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Riesgo ícono" descr="Ries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795" y="1927555"/>
            <a:ext cx="351130" cy="351130"/>
          </a:xfrm>
          <a:prstGeom prst="rect">
            <a:avLst/>
          </a:prstGeom>
        </p:spPr>
      </p:pic>
      <p:sp>
        <p:nvSpPr>
          <p:cNvPr id="26" name="Riesgo título"/>
          <p:cNvSpPr txBox="1"/>
          <p:nvPr/>
        </p:nvSpPr>
        <p:spPr>
          <a:xfrm>
            <a:off x="8229600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Riesgo aceptado</a:t>
            </a:r>
            <a:endParaRPr lang="en-US" sz="2000" dirty="0"/>
          </a:p>
        </p:txBody>
      </p:sp>
      <p:sp>
        <p:nvSpPr>
          <p:cNvPr id="27" name="Riesgo texto"/>
          <p:cNvSpPr txBox="1"/>
          <p:nvPr/>
        </p:nvSpPr>
        <p:spPr>
          <a:xfrm>
            <a:off x="8229600" y="32004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Las contraseñas se guardan en texto plano porque el sistema actual las valida contra la misma columna.</a:t>
            </a:r>
            <a:endParaRPr lang="en-US" sz="1500" dirty="0"/>
          </a:p>
        </p:txBody>
      </p:sp>
      <p:sp>
        <p:nvSpPr>
          <p:cNvPr id="28" name="Riesgo mitigación"/>
          <p:cNvSpPr txBox="1"/>
          <p:nvPr/>
        </p:nvSpPr>
        <p:spPr>
          <a:xfrm>
            <a:off x="8229600" y="4617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cifrarán cuando el sistema actual deje de usar SGP_USUARIO.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298 pruebas automatizadas en verde</a:t>
            </a:r>
            <a:endParaRPr lang="en-US" sz="3600" dirty="0"/>
          </a:p>
        </p:txBody>
      </p:sp>
      <p:sp>
        <p:nvSpPr>
          <p:cNvPr id="3" name="Cifra 1"/>
          <p:cNvSpPr/>
          <p:nvPr/>
        </p:nvSpPr>
        <p:spPr>
          <a:xfrm>
            <a:off x="54864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4" name="Cifra 1 número"/>
          <p:cNvSpPr txBox="1"/>
          <p:nvPr/>
        </p:nvSpPr>
        <p:spPr>
          <a:xfrm>
            <a:off x="777240" y="1554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220</a:t>
            </a:r>
            <a:endParaRPr lang="en-US" sz="5400" dirty="0"/>
          </a:p>
        </p:txBody>
      </p:sp>
      <p:sp>
        <p:nvSpPr>
          <p:cNvPr id="5" name="Cifra 1 texto"/>
          <p:cNvSpPr txBox="1"/>
          <p:nvPr/>
        </p:nvSpPr>
        <p:spPr>
          <a:xfrm>
            <a:off x="77724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pruebas unitarias</a:t>
            </a:r>
            <a:endParaRPr lang="en-US" sz="1500" dirty="0"/>
          </a:p>
        </p:txBody>
      </p:sp>
      <p:sp>
        <p:nvSpPr>
          <p:cNvPr id="6" name="Cifra 2"/>
          <p:cNvSpPr/>
          <p:nvPr/>
        </p:nvSpPr>
        <p:spPr>
          <a:xfrm>
            <a:off x="338328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7" name="Cifra 2 número"/>
          <p:cNvSpPr txBox="1"/>
          <p:nvPr/>
        </p:nvSpPr>
        <p:spPr>
          <a:xfrm>
            <a:off x="3611880" y="1554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78</a:t>
            </a:r>
            <a:endParaRPr lang="en-US" sz="5400" dirty="0"/>
          </a:p>
        </p:txBody>
      </p:sp>
      <p:sp>
        <p:nvSpPr>
          <p:cNvPr id="8" name="Cifra 2 texto"/>
          <p:cNvSpPr txBox="1"/>
          <p:nvPr/>
        </p:nvSpPr>
        <p:spPr>
          <a:xfrm>
            <a:off x="361188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pruebas de integración</a:t>
            </a:r>
            <a:endParaRPr lang="en-US" sz="1500" dirty="0"/>
          </a:p>
        </p:txBody>
      </p:sp>
      <p:sp>
        <p:nvSpPr>
          <p:cNvPr id="9" name="Cifra 3"/>
          <p:cNvSpPr/>
          <p:nvPr/>
        </p:nvSpPr>
        <p:spPr>
          <a:xfrm>
            <a:off x="621792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0" name="Cifra 3 número"/>
          <p:cNvSpPr txBox="1"/>
          <p:nvPr/>
        </p:nvSpPr>
        <p:spPr>
          <a:xfrm>
            <a:off x="6446520" y="1554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12</a:t>
            </a:r>
            <a:endParaRPr lang="en-US" sz="5400" dirty="0"/>
          </a:p>
        </p:txBody>
      </p:sp>
      <p:sp>
        <p:nvSpPr>
          <p:cNvPr id="11" name="Cifra 3 texto"/>
          <p:cNvSpPr txBox="1"/>
          <p:nvPr/>
        </p:nvSpPr>
        <p:spPr>
          <a:xfrm>
            <a:off x="644652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contra la base de datos real</a:t>
            </a:r>
            <a:endParaRPr lang="en-US" sz="1500" dirty="0"/>
          </a:p>
        </p:txBody>
      </p:sp>
      <p:sp>
        <p:nvSpPr>
          <p:cNvPr id="12" name="Cifra 4"/>
          <p:cNvSpPr/>
          <p:nvPr/>
        </p:nvSpPr>
        <p:spPr>
          <a:xfrm>
            <a:off x="905256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3" name="Cifra 4 número"/>
          <p:cNvSpPr txBox="1"/>
          <p:nvPr/>
        </p:nvSpPr>
        <p:spPr>
          <a:xfrm>
            <a:off x="9281160" y="1554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10/11</a:t>
            </a:r>
            <a:endParaRPr lang="en-US" sz="5400" dirty="0"/>
          </a:p>
        </p:txBody>
      </p:sp>
      <p:sp>
        <p:nvSpPr>
          <p:cNvPr id="14" name="Cifra 4 texto"/>
          <p:cNvSpPr txBox="1"/>
          <p:nvPr/>
        </p:nvSpPr>
        <p:spPr>
          <a:xfrm>
            <a:off x="928116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pruebas manuales aprobadas</a:t>
            </a:r>
            <a:endParaRPr lang="en-US" sz="1500" dirty="0"/>
          </a:p>
        </p:txBody>
      </p:sp>
      <p:sp>
        <p:nvSpPr>
          <p:cNvPr id="15" name="Contra la base de datos real"/>
          <p:cNvSpPr/>
          <p:nvPr/>
        </p:nvSpPr>
        <p:spPr>
          <a:xfrm>
            <a:off x="548640" y="356616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6" name="BD real título"/>
          <p:cNvSpPr txBox="1"/>
          <p:nvPr/>
        </p:nvSpPr>
        <p:spPr>
          <a:xfrm>
            <a:off x="82296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Qué se verifica contra la BD real</a:t>
            </a:r>
            <a:endParaRPr lang="en-US" sz="1800" dirty="0"/>
          </a:p>
        </p:txBody>
      </p:sp>
      <p:sp>
        <p:nvSpPr>
          <p:cNvPr id="17" name="BD real lista"/>
          <p:cNvSpPr txBox="1"/>
          <p:nvPr/>
        </p:nvSpPr>
        <p:spPr>
          <a:xfrm>
            <a:off x="822960" y="42519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Venta completa con los valores de los procedimientos de referencia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Reversión total ante un error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Dos ventas simultáneas del mismo artículo</a:t>
            </a:r>
            <a:endParaRPr lang="en-US" sz="1500" dirty="0"/>
          </a:p>
        </p:txBody>
      </p:sp>
      <p:sp>
        <p:nvSpPr>
          <p:cNvPr id="18" name="Defectos corregidos"/>
          <p:cNvSpPr/>
          <p:nvPr/>
        </p:nvSpPr>
        <p:spPr>
          <a:xfrm>
            <a:off x="6217920" y="356616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9" name="Defectos círculo"/>
          <p:cNvSpPr/>
          <p:nvPr/>
        </p:nvSpPr>
        <p:spPr>
          <a:xfrm>
            <a:off x="6492240" y="37947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Defectos ícono" descr="Defec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1" y="3961181"/>
            <a:ext cx="307238" cy="307238"/>
          </a:xfrm>
          <a:prstGeom prst="rect">
            <a:avLst/>
          </a:prstGeom>
        </p:spPr>
      </p:pic>
      <p:sp>
        <p:nvSpPr>
          <p:cNvPr id="21" name="Defectos título"/>
          <p:cNvSpPr txBox="1"/>
          <p:nvPr/>
        </p:nvSpPr>
        <p:spPr>
          <a:xfrm>
            <a:off x="7315200" y="3794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3 defectos corregidos en pruebas manuales</a:t>
            </a:r>
            <a:endParaRPr lang="en-US" sz="1800" dirty="0"/>
          </a:p>
        </p:txBody>
      </p:sp>
      <p:sp>
        <p:nvSpPr>
          <p:cNvPr id="22" name="Defectos lista"/>
          <p:cNvSpPr txBox="1"/>
          <p:nvPr/>
        </p:nvSpPr>
        <p:spPr>
          <a:xfrm>
            <a:off x="6492240" y="4617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Pantalla de venta en el celular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Botón Registrar en ventanas bajas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Etiqueta de IGV en el comprobante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Tecnología del proyecto</a:t>
            </a:r>
            <a:endParaRPr lang="en-US" sz="3600" dirty="0"/>
          </a:p>
        </p:txBody>
      </p:sp>
      <p:sp>
        <p:nvSpPr>
          <p:cNvPr id="3" name="Tecnología 1"/>
          <p:cNvSpPr/>
          <p:nvPr/>
        </p:nvSpPr>
        <p:spPr>
          <a:xfrm>
            <a:off x="548640" y="141732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4" name=".NET 10 · ASP.NET Core MVC círculo"/>
          <p:cNvSpPr/>
          <p:nvPr/>
        </p:nvSpPr>
        <p:spPr>
          <a:xfrm>
            <a:off x="822960" y="170992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.NET 10 · ASP.NET Core MVC ícono" descr=".NET 10 · ASP.NET Core MV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900123"/>
            <a:ext cx="351130" cy="351130"/>
          </a:xfrm>
          <a:prstGeom prst="rect">
            <a:avLst/>
          </a:prstGeom>
        </p:spPr>
      </p:pic>
      <p:sp>
        <p:nvSpPr>
          <p:cNvPr id="6" name=".NET 10 · ASP.NET Core MVC título"/>
          <p:cNvSpPr txBox="1"/>
          <p:nvPr/>
        </p:nvSpPr>
        <p:spPr>
          <a:xfrm>
            <a:off x="1783080" y="16184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.NET 10 · ASP.NET Core MVC</a:t>
            </a:r>
            <a:endParaRPr lang="en-US" sz="1800" dirty="0"/>
          </a:p>
        </p:txBody>
      </p:sp>
      <p:sp>
        <p:nvSpPr>
          <p:cNvPr id="7" name=".NET 10 · ASP.NET Core MVC texto"/>
          <p:cNvSpPr txBox="1"/>
          <p:nvPr/>
        </p:nvSpPr>
        <p:spPr>
          <a:xfrm>
            <a:off x="1783080" y="20574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Vistas Razor y jQuery; JSON solo en la pantalla de venta</a:t>
            </a:r>
            <a:endParaRPr lang="en-US" sz="1400" dirty="0"/>
          </a:p>
        </p:txBody>
      </p:sp>
      <p:sp>
        <p:nvSpPr>
          <p:cNvPr id="8" name="Tecnología 2"/>
          <p:cNvSpPr/>
          <p:nvPr/>
        </p:nvSpPr>
        <p:spPr>
          <a:xfrm>
            <a:off x="6217920" y="141732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9" name="EF Core 10 · SQL Server círculo"/>
          <p:cNvSpPr/>
          <p:nvPr/>
        </p:nvSpPr>
        <p:spPr>
          <a:xfrm>
            <a:off x="6492240" y="170992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EF Core 10 · SQL Server ícono" descr="EF Core 10 · SQL 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1900123"/>
            <a:ext cx="351130" cy="351130"/>
          </a:xfrm>
          <a:prstGeom prst="rect">
            <a:avLst/>
          </a:prstGeom>
        </p:spPr>
      </p:pic>
      <p:sp>
        <p:nvSpPr>
          <p:cNvPr id="11" name="EF Core 10 · SQL Server título"/>
          <p:cNvSpPr txBox="1"/>
          <p:nvPr/>
        </p:nvSpPr>
        <p:spPr>
          <a:xfrm>
            <a:off x="7452360" y="16184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EF Core 10 · SQL Server</a:t>
            </a:r>
            <a:endParaRPr lang="en-US" sz="1800" dirty="0"/>
          </a:p>
        </p:txBody>
      </p:sp>
      <p:sp>
        <p:nvSpPr>
          <p:cNvPr id="12" name="EF Core 10 · SQL Server texto"/>
          <p:cNvSpPr txBox="1"/>
          <p:nvPr/>
        </p:nvSpPr>
        <p:spPr>
          <a:xfrm>
            <a:off x="7452360" y="20574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Mapeo al esquema heredado, sin migraciones</a:t>
            </a:r>
            <a:endParaRPr lang="en-US" sz="1400" dirty="0"/>
          </a:p>
        </p:txBody>
      </p:sp>
      <p:sp>
        <p:nvSpPr>
          <p:cNvPr id="13" name="Tecnología 3"/>
          <p:cNvSpPr/>
          <p:nvPr/>
        </p:nvSpPr>
        <p:spPr>
          <a:xfrm>
            <a:off x="548640" y="297180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4" name="FluentValidation círculo"/>
          <p:cNvSpPr/>
          <p:nvPr/>
        </p:nvSpPr>
        <p:spPr>
          <a:xfrm>
            <a:off x="822960" y="326440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FluentValidation ícono" descr="FluentValid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" y="3454603"/>
            <a:ext cx="351130" cy="351130"/>
          </a:xfrm>
          <a:prstGeom prst="rect">
            <a:avLst/>
          </a:prstGeom>
        </p:spPr>
      </p:pic>
      <p:sp>
        <p:nvSpPr>
          <p:cNvPr id="16" name="FluentValidation título"/>
          <p:cNvSpPr txBox="1"/>
          <p:nvPr/>
        </p:nvSpPr>
        <p:spPr>
          <a:xfrm>
            <a:off x="1783080" y="317296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FluentValidation</a:t>
            </a:r>
            <a:endParaRPr lang="en-US" sz="1800" dirty="0"/>
          </a:p>
        </p:txBody>
      </p:sp>
      <p:sp>
        <p:nvSpPr>
          <p:cNvPr id="17" name="FluentValidation texto"/>
          <p:cNvSpPr txBox="1"/>
          <p:nvPr/>
        </p:nvSpPr>
        <p:spPr>
          <a:xfrm>
            <a:off x="1783080" y="36118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Validaciones con mensajes en español por campo</a:t>
            </a:r>
            <a:endParaRPr lang="en-US" sz="1400" dirty="0"/>
          </a:p>
        </p:txBody>
      </p:sp>
      <p:sp>
        <p:nvSpPr>
          <p:cNvPr id="18" name="Tecnología 4"/>
          <p:cNvSpPr/>
          <p:nvPr/>
        </p:nvSpPr>
        <p:spPr>
          <a:xfrm>
            <a:off x="6217920" y="297180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19" name="xUnit · Moq · FluentAssertions círculo"/>
          <p:cNvSpPr/>
          <p:nvPr/>
        </p:nvSpPr>
        <p:spPr>
          <a:xfrm>
            <a:off x="6492240" y="326440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xUnit · Moq · FluentAssertions ícono" descr="xUnit · Moq · FluentAssert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435" y="3454603"/>
            <a:ext cx="351130" cy="351130"/>
          </a:xfrm>
          <a:prstGeom prst="rect">
            <a:avLst/>
          </a:prstGeom>
        </p:spPr>
      </p:pic>
      <p:sp>
        <p:nvSpPr>
          <p:cNvPr id="21" name="xUnit · Moq · FluentAssertions título"/>
          <p:cNvSpPr txBox="1"/>
          <p:nvPr/>
        </p:nvSpPr>
        <p:spPr>
          <a:xfrm>
            <a:off x="7452360" y="317296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xUnit · Moq · FluentAssertions</a:t>
            </a:r>
            <a:endParaRPr lang="en-US" sz="1800" dirty="0"/>
          </a:p>
        </p:txBody>
      </p:sp>
      <p:sp>
        <p:nvSpPr>
          <p:cNvPr id="22" name="xUnit · Moq · FluentAssertions texto"/>
          <p:cNvSpPr txBox="1"/>
          <p:nvPr/>
        </p:nvSpPr>
        <p:spPr>
          <a:xfrm>
            <a:off x="7452360" y="36118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unitarias y de integración</a:t>
            </a:r>
            <a:endParaRPr lang="en-US" sz="1400" dirty="0"/>
          </a:p>
        </p:txBody>
      </p:sp>
      <p:sp>
        <p:nvSpPr>
          <p:cNvPr id="23" name="Tecnología 5"/>
          <p:cNvSpPr/>
          <p:nvPr/>
        </p:nvSpPr>
        <p:spPr>
          <a:xfrm>
            <a:off x="548640" y="452628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4" name="OpenAPI · Scalar círculo"/>
          <p:cNvSpPr/>
          <p:nvPr/>
        </p:nvSpPr>
        <p:spPr>
          <a:xfrm>
            <a:off x="822960" y="481888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OpenAPI · Scalar ícono" descr="OpenAPI · Scal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155" y="5009083"/>
            <a:ext cx="351130" cy="351130"/>
          </a:xfrm>
          <a:prstGeom prst="rect">
            <a:avLst/>
          </a:prstGeom>
        </p:spPr>
      </p:pic>
      <p:sp>
        <p:nvSpPr>
          <p:cNvPr id="26" name="OpenAPI · Scalar título"/>
          <p:cNvSpPr txBox="1"/>
          <p:nvPr/>
        </p:nvSpPr>
        <p:spPr>
          <a:xfrm>
            <a:off x="1783080" y="47274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OpenAPI · Scalar</a:t>
            </a:r>
            <a:endParaRPr lang="en-US" sz="1800" dirty="0"/>
          </a:p>
        </p:txBody>
      </p:sp>
      <p:sp>
        <p:nvSpPr>
          <p:cNvPr id="27" name="OpenAPI · Scalar texto"/>
          <p:cNvSpPr txBox="1"/>
          <p:nvPr/>
        </p:nvSpPr>
        <p:spPr>
          <a:xfrm>
            <a:off x="1783080" y="51663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Documentación de las acciones JSON</a:t>
            </a:r>
            <a:endParaRPr lang="en-US" sz="1400" dirty="0"/>
          </a:p>
        </p:txBody>
      </p:sp>
      <p:sp>
        <p:nvSpPr>
          <p:cNvPr id="28" name="Tecnología 6"/>
          <p:cNvSpPr/>
          <p:nvPr/>
        </p:nvSpPr>
        <p:spPr>
          <a:xfrm>
            <a:off x="6217920" y="452628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29" name="Git · GitHub círculo"/>
          <p:cNvSpPr/>
          <p:nvPr/>
        </p:nvSpPr>
        <p:spPr>
          <a:xfrm>
            <a:off x="6492240" y="481888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Git · GitHub ícono" descr="Git · GitHu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435" y="5009083"/>
            <a:ext cx="351130" cy="351130"/>
          </a:xfrm>
          <a:prstGeom prst="rect">
            <a:avLst/>
          </a:prstGeom>
        </p:spPr>
      </p:pic>
      <p:sp>
        <p:nvSpPr>
          <p:cNvPr id="31" name="Git · GitHub título"/>
          <p:cNvSpPr txBox="1"/>
          <p:nvPr/>
        </p:nvSpPr>
        <p:spPr>
          <a:xfrm>
            <a:off x="7452360" y="47274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 · GitHub</a:t>
            </a:r>
            <a:endParaRPr lang="en-US" sz="1800" dirty="0"/>
          </a:p>
        </p:txBody>
      </p:sp>
      <p:sp>
        <p:nvSpPr>
          <p:cNvPr id="32" name="Git · GitHub texto"/>
          <p:cNvSpPr txBox="1"/>
          <p:nvPr/>
        </p:nvSpPr>
        <p:spPr>
          <a:xfrm>
            <a:off x="7452360" y="51663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Conventional Commits en la rama main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Documentación entregada</a:t>
            </a:r>
            <a:endParaRPr lang="en-US" sz="3600" dirty="0"/>
          </a:p>
        </p:txBody>
      </p:sp>
      <p:sp>
        <p:nvSpPr>
          <p:cNvPr id="3" name="Total de documentos"/>
          <p:cNvSpPr/>
          <p:nvPr/>
        </p:nvSpPr>
        <p:spPr>
          <a:xfrm>
            <a:off x="548640" y="1417320"/>
            <a:ext cx="3931920" cy="46177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F2A44">
                <a:alpha val="14000"/>
              </a:srgbClr>
            </a:outerShdw>
          </a:effectLst>
        </p:spPr>
      </p:sp>
      <p:sp>
        <p:nvSpPr>
          <p:cNvPr id="4" name="Total número"/>
          <p:cNvSpPr txBox="1"/>
          <p:nvPr/>
        </p:nvSpPr>
        <p:spPr>
          <a:xfrm>
            <a:off x="868680" y="21488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</a:rPr>
              <a:t>6</a:t>
            </a:r>
            <a:endParaRPr lang="en-US" sz="9600" dirty="0"/>
          </a:p>
        </p:txBody>
      </p:sp>
      <p:sp>
        <p:nvSpPr>
          <p:cNvPr id="5" name="Total texto"/>
          <p:cNvSpPr txBox="1"/>
          <p:nvPr/>
        </p:nvSpPr>
        <p:spPr>
          <a:xfrm>
            <a:off x="868680" y="3886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documentos en la carpeta Docs y en el repositorio de GitHub</a:t>
            </a:r>
            <a:endParaRPr lang="en-US" sz="1800" dirty="0"/>
          </a:p>
        </p:txBody>
      </p:sp>
      <p:sp>
        <p:nvSpPr>
          <p:cNvPr id="6" name="Requerimientos funcionales círculo"/>
          <p:cNvSpPr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Requerimientos funcionales ícono" descr="Requerimientos funciona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66" y="1605686"/>
            <a:ext cx="263347" cy="263347"/>
          </a:xfrm>
          <a:prstGeom prst="rect">
            <a:avLst/>
          </a:prstGeom>
        </p:spPr>
      </p:pic>
      <p:sp>
        <p:nvSpPr>
          <p:cNvPr id="8" name="Requerimientos funcionales título"/>
          <p:cNvSpPr txBox="1"/>
          <p:nvPr/>
        </p:nvSpPr>
        <p:spPr>
          <a:xfrm>
            <a:off x="557784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Requerimientos funcionales</a:t>
            </a:r>
            <a:endParaRPr lang="en-US" sz="1700" dirty="0"/>
          </a:p>
        </p:txBody>
      </p:sp>
      <p:sp>
        <p:nvSpPr>
          <p:cNvPr id="9" name="Requerimientos funcionales texto"/>
          <p:cNvSpPr txBox="1"/>
          <p:nvPr/>
        </p:nvSpPr>
        <p:spPr>
          <a:xfrm>
            <a:off x="850392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RF-01 a RF-22, reglas de negocio y supuestos</a:t>
            </a:r>
            <a:endParaRPr lang="en-US" sz="1400" dirty="0"/>
          </a:p>
        </p:txBody>
      </p:sp>
      <p:sp>
        <p:nvSpPr>
          <p:cNvPr id="10" name="Casos de uso círculo"/>
          <p:cNvSpPr/>
          <p:nvPr/>
        </p:nvSpPr>
        <p:spPr>
          <a:xfrm>
            <a:off x="4846320" y="2240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sos de uso ícono" descr="Casos de us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2382926"/>
            <a:ext cx="263347" cy="263347"/>
          </a:xfrm>
          <a:prstGeom prst="rect">
            <a:avLst/>
          </a:prstGeom>
        </p:spPr>
      </p:pic>
      <p:sp>
        <p:nvSpPr>
          <p:cNvPr id="12" name="Casos de uso título"/>
          <p:cNvSpPr txBox="1"/>
          <p:nvPr/>
        </p:nvSpPr>
        <p:spPr>
          <a:xfrm>
            <a:off x="557784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Casos de uso</a:t>
            </a:r>
            <a:endParaRPr lang="en-US" sz="1700" dirty="0"/>
          </a:p>
        </p:txBody>
      </p:sp>
      <p:sp>
        <p:nvSpPr>
          <p:cNvPr id="13" name="Casos de uso texto"/>
          <p:cNvSpPr txBox="1"/>
          <p:nvPr/>
        </p:nvSpPr>
        <p:spPr>
          <a:xfrm>
            <a:off x="850392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 casos con diagrama y trazabilidad</a:t>
            </a:r>
            <a:endParaRPr lang="en-US" sz="1400" dirty="0"/>
          </a:p>
        </p:txBody>
      </p:sp>
      <p:sp>
        <p:nvSpPr>
          <p:cNvPr id="14" name="Manual de usuario círculo"/>
          <p:cNvSpPr/>
          <p:nvPr/>
        </p:nvSpPr>
        <p:spPr>
          <a:xfrm>
            <a:off x="484632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Manual de usuario ícono" descr="Manual de usuari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6" y="3160166"/>
            <a:ext cx="263347" cy="263347"/>
          </a:xfrm>
          <a:prstGeom prst="rect">
            <a:avLst/>
          </a:prstGeom>
        </p:spPr>
      </p:pic>
      <p:sp>
        <p:nvSpPr>
          <p:cNvPr id="16" name="Manual de usuario título"/>
          <p:cNvSpPr txBox="1"/>
          <p:nvPr/>
        </p:nvSpPr>
        <p:spPr>
          <a:xfrm>
            <a:off x="557784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Manual de usuario</a:t>
            </a:r>
            <a:endParaRPr lang="en-US" sz="1700" dirty="0"/>
          </a:p>
        </p:txBody>
      </p:sp>
      <p:sp>
        <p:nvSpPr>
          <p:cNvPr id="17" name="Manual de usuario texto"/>
          <p:cNvSpPr txBox="1"/>
          <p:nvPr/>
        </p:nvSpPr>
        <p:spPr>
          <a:xfrm>
            <a:off x="850392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Paso a paso para el operador</a:t>
            </a:r>
            <a:endParaRPr lang="en-US" sz="1400" dirty="0"/>
          </a:p>
        </p:txBody>
      </p:sp>
      <p:sp>
        <p:nvSpPr>
          <p:cNvPr id="18" name="Arquitectura círculo"/>
          <p:cNvSpPr/>
          <p:nvPr/>
        </p:nvSpPr>
        <p:spPr>
          <a:xfrm>
            <a:off x="4846320" y="3794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Arquitectura ícono" descr="Arquitectur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966" y="3937406"/>
            <a:ext cx="263347" cy="263347"/>
          </a:xfrm>
          <a:prstGeom prst="rect">
            <a:avLst/>
          </a:prstGeom>
        </p:spPr>
      </p:pic>
      <p:sp>
        <p:nvSpPr>
          <p:cNvPr id="20" name="Arquitectura título"/>
          <p:cNvSpPr txBox="1"/>
          <p:nvPr/>
        </p:nvSpPr>
        <p:spPr>
          <a:xfrm>
            <a:off x="557784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Arquitectura</a:t>
            </a:r>
            <a:endParaRPr lang="en-US" sz="1700" dirty="0"/>
          </a:p>
        </p:txBody>
      </p:sp>
      <p:sp>
        <p:nvSpPr>
          <p:cNvPr id="21" name="Arquitectura texto"/>
          <p:cNvSpPr txBox="1"/>
          <p:nvPr/>
        </p:nvSpPr>
        <p:spPr>
          <a:xfrm>
            <a:off x="850392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Capas, secuencia de la venta y clases</a:t>
            </a:r>
            <a:endParaRPr lang="en-US" sz="1400" dirty="0"/>
          </a:p>
        </p:txBody>
      </p:sp>
      <p:sp>
        <p:nvSpPr>
          <p:cNvPr id="22" name="Plan de pruebas círculo"/>
          <p:cNvSpPr/>
          <p:nvPr/>
        </p:nvSpPr>
        <p:spPr>
          <a:xfrm>
            <a:off x="4846320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Plan de pruebas ícono" descr="Plan de prueba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8966" y="4714646"/>
            <a:ext cx="263347" cy="263347"/>
          </a:xfrm>
          <a:prstGeom prst="rect">
            <a:avLst/>
          </a:prstGeom>
        </p:spPr>
      </p:pic>
      <p:sp>
        <p:nvSpPr>
          <p:cNvPr id="24" name="Plan de pruebas título"/>
          <p:cNvSpPr txBox="1"/>
          <p:nvPr/>
        </p:nvSpPr>
        <p:spPr>
          <a:xfrm>
            <a:off x="5577840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 de pruebas</a:t>
            </a:r>
            <a:endParaRPr lang="en-US" sz="1700" dirty="0"/>
          </a:p>
        </p:txBody>
      </p:sp>
      <p:sp>
        <p:nvSpPr>
          <p:cNvPr id="25" name="Plan de pruebas texto"/>
          <p:cNvSpPr txBox="1"/>
          <p:nvPr/>
        </p:nvSpPr>
        <p:spPr>
          <a:xfrm>
            <a:off x="850392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52 casos automatizados y 11 manuales</a:t>
            </a:r>
            <a:endParaRPr lang="en-US" sz="1400" dirty="0"/>
          </a:p>
        </p:txBody>
      </p:sp>
      <p:sp>
        <p:nvSpPr>
          <p:cNvPr id="26" name="README círculo"/>
          <p:cNvSpPr/>
          <p:nvPr/>
        </p:nvSpPr>
        <p:spPr>
          <a:xfrm>
            <a:off x="4846320" y="5349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README ícono" descr="READM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8966" y="5491886"/>
            <a:ext cx="263347" cy="263347"/>
          </a:xfrm>
          <a:prstGeom prst="rect">
            <a:avLst/>
          </a:prstGeom>
        </p:spPr>
      </p:pic>
      <p:sp>
        <p:nvSpPr>
          <p:cNvPr id="28" name="README título"/>
          <p:cNvSpPr txBox="1"/>
          <p:nvPr/>
        </p:nvSpPr>
        <p:spPr>
          <a:xfrm>
            <a:off x="557784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README</a:t>
            </a:r>
            <a:endParaRPr lang="en-US" sz="1700" dirty="0"/>
          </a:p>
        </p:txBody>
      </p:sp>
      <p:sp>
        <p:nvSpPr>
          <p:cNvPr id="29" name="README texto"/>
          <p:cNvSpPr txBox="1"/>
          <p:nvPr/>
        </p:nvSpPr>
        <p:spPr>
          <a:xfrm>
            <a:off x="850392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Puesta en marcha del proyecto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Próximos pasos</a:t>
            </a:r>
            <a:endParaRPr lang="en-US" sz="3600" dirty="0"/>
          </a:p>
        </p:txBody>
      </p:sp>
      <p:sp>
        <p:nvSpPr>
          <p:cNvPr id="3" name="Siguiente 1"/>
          <p:cNvSpPr/>
          <p:nvPr/>
        </p:nvSpPr>
        <p:spPr>
          <a:xfrm>
            <a:off x="548640" y="15087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1C3D5F"/>
          </a:solidFill>
          <a:ln/>
        </p:spPr>
      </p:sp>
      <p:sp>
        <p:nvSpPr>
          <p:cNvPr id="4" name="Siguiente 1 círculo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iguiente 1 número"/>
          <p:cNvSpPr txBox="1"/>
          <p:nvPr/>
        </p:nvSpPr>
        <p:spPr>
          <a:xfrm>
            <a:off x="86868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Siguiente 1 título"/>
          <p:cNvSpPr txBox="1"/>
          <p:nvPr/>
        </p:nvSpPr>
        <p:spPr>
          <a:xfrm>
            <a:off x="1920240" y="1828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Cerrar la última prueba manual</a:t>
            </a:r>
            <a:endParaRPr lang="en-US" sz="2200" dirty="0"/>
          </a:p>
        </p:txBody>
      </p:sp>
      <p:sp>
        <p:nvSpPr>
          <p:cNvPr id="7" name="Siguiente 1 texto"/>
          <p:cNvSpPr txBox="1"/>
          <p:nvPr/>
        </p:nvSpPr>
        <p:spPr>
          <a:xfrm>
            <a:off x="1920240" y="26517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Cambio de contraseña (M-08)</a:t>
            </a:r>
            <a:endParaRPr lang="en-US" sz="1600" dirty="0"/>
          </a:p>
        </p:txBody>
      </p:sp>
      <p:sp>
        <p:nvSpPr>
          <p:cNvPr id="8" name="Siguiente 2"/>
          <p:cNvSpPr/>
          <p:nvPr/>
        </p:nvSpPr>
        <p:spPr>
          <a:xfrm>
            <a:off x="6217920" y="15087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1C3D5F"/>
          </a:solidFill>
          <a:ln/>
        </p:spPr>
      </p:sp>
      <p:sp>
        <p:nvSpPr>
          <p:cNvPr id="9" name="Siguiente 2 círculo"/>
          <p:cNvSpPr/>
          <p:nvPr/>
        </p:nvSpPr>
        <p:spPr>
          <a:xfrm>
            <a:off x="6537960" y="1828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Siguiente 2 número"/>
          <p:cNvSpPr txBox="1"/>
          <p:nvPr/>
        </p:nvSpPr>
        <p:spPr>
          <a:xfrm>
            <a:off x="653796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Siguiente 2 título"/>
          <p:cNvSpPr txBox="1"/>
          <p:nvPr/>
        </p:nvSpPr>
        <p:spPr>
          <a:xfrm>
            <a:off x="7589520" y="1828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Separar gravado y exonerado</a:t>
            </a:r>
            <a:endParaRPr lang="en-US" sz="2200" dirty="0"/>
          </a:p>
        </p:txBody>
      </p:sp>
      <p:sp>
        <p:nvSpPr>
          <p:cNvPr id="12" name="Siguiente 2 texto"/>
          <p:cNvSpPr txBox="1"/>
          <p:nvPr/>
        </p:nvSpPr>
        <p:spPr>
          <a:xfrm>
            <a:off x="7589520" y="26517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En el resumen y en el comprobante</a:t>
            </a:r>
            <a:endParaRPr lang="en-US" sz="1600" dirty="0"/>
          </a:p>
        </p:txBody>
      </p:sp>
      <p:sp>
        <p:nvSpPr>
          <p:cNvPr id="13" name="Siguiente 3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1C3D5F"/>
          </a:solidFill>
          <a:ln/>
        </p:spPr>
      </p:sp>
      <p:sp>
        <p:nvSpPr>
          <p:cNvPr id="14" name="Siguiente 3 círculo"/>
          <p:cNvSpPr/>
          <p:nvPr/>
        </p:nvSpPr>
        <p:spPr>
          <a:xfrm>
            <a:off x="868680" y="41605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Siguiente 3 número"/>
          <p:cNvSpPr txBox="1"/>
          <p:nvPr/>
        </p:nvSpPr>
        <p:spPr>
          <a:xfrm>
            <a:off x="868680" y="4160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Siguiente 3 título"/>
          <p:cNvSpPr txBox="1"/>
          <p:nvPr/>
        </p:nvSpPr>
        <p:spPr>
          <a:xfrm>
            <a:off x="1920240" y="41605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Decisiones pendientes</a:t>
            </a:r>
            <a:endParaRPr lang="en-US" sz="2200" dirty="0"/>
          </a:p>
        </p:txBody>
      </p:sp>
      <p:sp>
        <p:nvSpPr>
          <p:cNvPr id="17" name="Siguiente 3 texto"/>
          <p:cNvSpPr txBox="1"/>
          <p:nvPr/>
        </p:nvSpPr>
        <p:spPr>
          <a:xfrm>
            <a:off x="1920240" y="4983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Pago mixto, redondeo y valores heredados</a:t>
            </a:r>
            <a:endParaRPr lang="en-US" sz="1600" dirty="0"/>
          </a:p>
        </p:txBody>
      </p:sp>
      <p:sp>
        <p:nvSpPr>
          <p:cNvPr id="18" name="Siguiente 4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1C3D5F"/>
          </a:solidFill>
          <a:ln/>
        </p:spPr>
      </p:sp>
      <p:sp>
        <p:nvSpPr>
          <p:cNvPr id="19" name="Siguiente 4 círculo"/>
          <p:cNvSpPr/>
          <p:nvPr/>
        </p:nvSpPr>
        <p:spPr>
          <a:xfrm>
            <a:off x="6537960" y="41605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Siguiente 4 número"/>
          <p:cNvSpPr txBox="1"/>
          <p:nvPr/>
        </p:nvSpPr>
        <p:spPr>
          <a:xfrm>
            <a:off x="6537960" y="4160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Siguiente 4 título"/>
          <p:cNvSpPr txBox="1"/>
          <p:nvPr/>
        </p:nvSpPr>
        <p:spPr>
          <a:xfrm>
            <a:off x="7589520" y="41605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Preparar el despliegue</a:t>
            </a:r>
            <a:endParaRPr lang="en-US" sz="2200" dirty="0"/>
          </a:p>
        </p:txBody>
      </p:sp>
      <p:sp>
        <p:nvSpPr>
          <p:cNvPr id="22" name="Siguiente 4 texto"/>
          <p:cNvSpPr txBox="1"/>
          <p:nvPr/>
        </p:nvSpPr>
        <p:spPr>
          <a:xfrm>
            <a:off x="7589520" y="4983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Paquetes actualizados, secretos y HTTPS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axyVentas">
  <a:themeElements>
    <a:clrScheme name="GalaxyVentas">
      <a:dk1>
        <a:srgbClr val="1B2433"/>
      </a:dk1>
      <a:lt1>
        <a:srgbClr val="FFFFFF"/>
      </a:lt1>
      <a:dk2>
        <a:srgbClr val="0F2A44"/>
      </a:dk2>
      <a:lt2>
        <a:srgbClr val="EEF3F9"/>
      </a:lt2>
      <a:accent1>
        <a:srgbClr val="2F6FE0"/>
      </a:accent1>
      <a:accent2>
        <a:srgbClr val="14A39A"/>
      </a:accent2>
      <a:accent3>
        <a:srgbClr val="F5A524"/>
      </a:accent3>
      <a:accent4>
        <a:srgbClr val="D9434B"/>
      </a:accent4>
      <a:accent5>
        <a:srgbClr val="6B7A90"/>
      </a:accent5>
      <a:accent6>
        <a:srgbClr val="1F8F55"/>
      </a:accent6>
      <a:hlink>
        <a:srgbClr val="2F6FE0"/>
      </a:hlink>
      <a:folHlink>
        <a:srgbClr val="6B7A90"/>
      </a:folHlink>
    </a:clrScheme>
    <a:fontScheme name="GalaxyVenta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1136</Words>
  <Application>Microsoft Office PowerPoint</Application>
  <PresentationFormat>Panorámica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GalaxyVentas</vt:lpstr>
      <vt:lpstr>GalaxyVentas</vt:lpstr>
      <vt:lpstr>Presentación de PowerPoint</vt:lpstr>
      <vt:lpstr>Todo lo que el operador necesita</vt:lpstr>
      <vt:lpstr>Arquitectura limpia en cuatro capas</vt:lpstr>
      <vt:lpstr>Cada venta se graba completa o no se graba</vt:lpstr>
      <vt:lpstr>Las reglas de negocio viven en el dominio</vt:lpstr>
      <vt:lpstr>Seguridad desde el diseño</vt:lpstr>
      <vt:lpstr>298 pruebas automatizadas en verde</vt:lpstr>
      <vt:lpstr>Tecnología del proyecto</vt:lpstr>
      <vt:lpstr>Documentación entregada</vt:lpstr>
      <vt:lpstr>Próximos pasos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GalaxyVentas — Presentación del proyecto</dc:title>
  <dc:subject>PptxGenJS Presentation</dc:subject>
  <dc:creator>Juan Elio Lujan</dc:creator>
  <cp:lastModifiedBy>Lujan Ayquipa, Juan Elio</cp:lastModifiedBy>
  <cp:revision>2</cp:revision>
  <dcterms:created xsi:type="dcterms:W3CDTF">2026-10-31T03:00:52Z</dcterms:created>
  <dcterms:modified xsi:type="dcterms:W3CDTF">2026-10-31T03:27:59Z</dcterms:modified>
</cp:coreProperties>
</file>